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6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654"/>
    <a:srgbClr val="CE1126"/>
    <a:srgbClr val="667788"/>
    <a:srgbClr val="3A51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241" autoAdjust="0"/>
  </p:normalViewPr>
  <p:slideViewPr>
    <p:cSldViewPr snapToGrid="0" snapToObjects="1">
      <p:cViewPr>
        <p:scale>
          <a:sx n="33" d="100"/>
          <a:sy n="33" d="100"/>
        </p:scale>
        <p:origin x="1757" y="102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6EFF87-7F2D-4D49-858B-3838E1169F3F}" type="datetimeFigureOut">
              <a:rPr lang="ko-KR" altLang="en-US" smtClean="0"/>
              <a:t>2026-05-25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F49E90-FA26-40E0-9D84-D1D0A1B9E3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77571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F49E90-FA26-40E0-9D84-D1D0A1B9E38F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34495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F49E90-FA26-40E0-9D84-D1D0A1B9E38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3583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6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8615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6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56624" y="2270900"/>
            <a:ext cx="5839840" cy="2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defRPr sz="14000" b="0" i="0">
                <a:solidFill>
                  <a:srgbClr val="FFFFFF"/>
                </a:solidFill>
                <a:latin typeface="Bebas Neue"/>
              </a:defRPr>
            </a:pPr>
            <a:r>
              <a:rPr sz="13000" b="1" dirty="0">
                <a:ln>
                  <a:solidFill>
                    <a:srgbClr val="667788"/>
                  </a:solidFill>
                </a:ln>
                <a:solidFill>
                  <a:srgbClr val="002654">
                    <a:alpha val="98000"/>
                  </a:srgbClr>
                </a:solidFill>
              </a:rPr>
              <a:t>PARIS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D1AD1A1-AF78-7F81-8F4A-F5E1BD7B0DE0}"/>
              </a:ext>
            </a:extLst>
          </p:cNvPr>
          <p:cNvSpPr txBox="1"/>
          <p:nvPr/>
        </p:nvSpPr>
        <p:spPr>
          <a:xfrm>
            <a:off x="326624" y="2169472"/>
            <a:ext cx="5839840" cy="28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4000" b="0" i="0">
                <a:solidFill>
                  <a:srgbClr val="FFFFFF"/>
                </a:solidFill>
                <a:latin typeface="Bebas Neue"/>
              </a:defRPr>
            </a:pPr>
            <a:r>
              <a:rPr sz="13000" b="1" dirty="0"/>
              <a:t>PARIS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0000" y="200000"/>
            <a:ext cx="25000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700" b="0" i="0">
                <a:solidFill>
                  <a:srgbClr val="667788"/>
                </a:solidFill>
                <a:latin typeface="DM Sans"/>
              </a:defRPr>
            </a:pPr>
            <a:r>
              <a:rPr dirty="0"/>
              <a:t>CULTURAL PRESENTATION · 2025</a:t>
            </a: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4C68A96B-1FC5-5A5B-B6A5-DAF9EBC6E585}"/>
              </a:ext>
            </a:extLst>
          </p:cNvPr>
          <p:cNvGrpSpPr/>
          <p:nvPr/>
        </p:nvGrpSpPr>
        <p:grpSpPr>
          <a:xfrm>
            <a:off x="4856480" y="180000"/>
            <a:ext cx="1383360" cy="236822"/>
            <a:chOff x="4856480" y="180000"/>
            <a:chExt cx="1383360" cy="236822"/>
          </a:xfrm>
        </p:grpSpPr>
        <p:sp>
          <p:nvSpPr>
            <p:cNvPr id="4" name="Rectangle 3"/>
            <p:cNvSpPr/>
            <p:nvPr/>
          </p:nvSpPr>
          <p:spPr>
            <a:xfrm>
              <a:off x="4856480" y="180000"/>
              <a:ext cx="1383360" cy="195473"/>
            </a:xfrm>
            <a:prstGeom prst="rect">
              <a:avLst/>
            </a:prstGeom>
            <a:solidFill>
              <a:srgbClr val="CE112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4928160" y="216822"/>
              <a:ext cx="126112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ctr">
                <a:defRPr sz="700" b="1" i="0">
                  <a:solidFill>
                    <a:srgbClr val="FFFFFF"/>
                  </a:solidFill>
                  <a:latin typeface="DM Sans"/>
                </a:defRPr>
              </a:pPr>
              <a:r>
                <a:rPr sz="600" spc="300" dirty="0"/>
                <a:t>FRANCE · EUROPE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30000" y="3887850"/>
            <a:ext cx="5839840" cy="3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800" b="0" i="0">
                <a:solidFill>
                  <a:srgbClr val="667788"/>
                </a:solidFill>
                <a:latin typeface="DM Sans"/>
              </a:defRPr>
            </a:pPr>
            <a:r>
              <a:rPr sz="700" spc="300" dirty="0"/>
              <a:t>HERITAGE · ART · GASTRONOMY · FASHION · HISTORY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812000"/>
            <a:ext cx="2113280" cy="46000"/>
          </a:xfrm>
          <a:prstGeom prst="rect">
            <a:avLst/>
          </a:prstGeom>
          <a:solidFill>
            <a:srgbClr val="002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840" y="0"/>
            <a:ext cx="5852160" cy="44577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539840" y="4107700"/>
            <a:ext cx="2000000" cy="25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600" b="0" i="0">
                <a:solidFill>
                  <a:srgbClr val="FFFFFF"/>
                </a:solidFill>
                <a:latin typeface="Bebas Neue"/>
              </a:defRPr>
            </a:pPr>
            <a:r>
              <a:rPr dirty="0"/>
              <a:t>TOUR EIFFEL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78960" y="4147700"/>
            <a:ext cx="25000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defRPr sz="700" b="0" i="0">
                <a:solidFill>
                  <a:srgbClr val="99AABB"/>
                </a:solidFill>
                <a:latin typeface="DM Sans"/>
              </a:defRPr>
            </a:pPr>
            <a:r>
              <a:rPr spc="300" dirty="0"/>
              <a:t>CHAMP DE MARS · PARIS</a:t>
            </a:r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39840" y="4457700"/>
            <a:ext cx="2926080" cy="2400300"/>
          </a:xfrm>
          <a:prstGeom prst="rect">
            <a:avLst/>
          </a:prstGeom>
        </p:spPr>
      </p:pic>
      <p:pic>
        <p:nvPicPr>
          <p:cNvPr id="22" name="Picture 2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65920" y="4457700"/>
            <a:ext cx="2926080" cy="24003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479840" y="6578000"/>
            <a:ext cx="20000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700" b="0" i="0">
                <a:solidFill>
                  <a:srgbClr val="AAAAAA"/>
                </a:solidFill>
                <a:latin typeface="DM Sans"/>
              </a:defRPr>
            </a:pPr>
            <a:r>
              <a:rPr spc="300" dirty="0"/>
              <a:t>SEINE · ÎLE DE LA CITÉ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05920" y="6578000"/>
            <a:ext cx="20000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700" b="0" i="0">
                <a:solidFill>
                  <a:srgbClr val="AAAAAA"/>
                </a:solidFill>
                <a:latin typeface="DM Sans"/>
              </a:defRPr>
            </a:pPr>
            <a:r>
              <a:rPr spc="300" dirty="0"/>
              <a:t>PARISIAN CUISINE</a:t>
            </a: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694D1C42-FF8F-5D84-6CBE-CB6A0153988E}"/>
              </a:ext>
            </a:extLst>
          </p:cNvPr>
          <p:cNvGrpSpPr/>
          <p:nvPr/>
        </p:nvGrpSpPr>
        <p:grpSpPr>
          <a:xfrm>
            <a:off x="6519840" y="200000"/>
            <a:ext cx="1631280" cy="739920"/>
            <a:chOff x="6519840" y="200000"/>
            <a:chExt cx="1631280" cy="739920"/>
          </a:xfrm>
        </p:grpSpPr>
        <p:sp>
          <p:nvSpPr>
            <p:cNvPr id="26" name="Rectangle 25"/>
            <p:cNvSpPr/>
            <p:nvPr/>
          </p:nvSpPr>
          <p:spPr>
            <a:xfrm>
              <a:off x="6519840" y="200000"/>
              <a:ext cx="1600000" cy="200000"/>
            </a:xfrm>
            <a:prstGeom prst="rect">
              <a:avLst/>
            </a:prstGeom>
            <a:solidFill>
              <a:srgbClr val="00204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6519840" y="200000"/>
              <a:ext cx="20000" cy="200000"/>
            </a:xfrm>
            <a:prstGeom prst="rect">
              <a:avLst/>
            </a:prstGeom>
            <a:solidFill>
              <a:srgbClr val="CE112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640960" y="255000"/>
              <a:ext cx="1500000" cy="18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700" b="0" i="0">
                  <a:solidFill>
                    <a:srgbClr val="FFFFFF"/>
                  </a:solidFill>
                  <a:latin typeface="DM Sans"/>
                </a:defRPr>
              </a:pPr>
              <a:r>
                <a:rPr sz="600" spc="300" dirty="0"/>
                <a:t>CITY OF LIGHT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6519840" y="450000"/>
              <a:ext cx="1600000" cy="200000"/>
            </a:xfrm>
            <a:prstGeom prst="rect">
              <a:avLst/>
            </a:prstGeom>
            <a:solidFill>
              <a:srgbClr val="00204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6519840" y="450000"/>
              <a:ext cx="20000" cy="200000"/>
            </a:xfrm>
            <a:prstGeom prst="rect">
              <a:avLst/>
            </a:prstGeom>
            <a:solidFill>
              <a:srgbClr val="CE112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6651120" y="500400"/>
              <a:ext cx="1500000" cy="18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700" b="0" i="0">
                  <a:solidFill>
                    <a:srgbClr val="FFFFFF"/>
                  </a:solidFill>
                  <a:latin typeface="DM Sans"/>
                </a:defRPr>
              </a:pPr>
              <a:r>
                <a:rPr sz="600" spc="300" dirty="0"/>
                <a:t>CAPITAL OF FRANCE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6519840" y="700000"/>
              <a:ext cx="1600000" cy="200000"/>
            </a:xfrm>
            <a:prstGeom prst="rect">
              <a:avLst/>
            </a:prstGeom>
            <a:solidFill>
              <a:srgbClr val="00204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6519840" y="700000"/>
              <a:ext cx="20000" cy="200000"/>
            </a:xfrm>
            <a:prstGeom prst="rect">
              <a:avLst/>
            </a:prstGeom>
            <a:solidFill>
              <a:srgbClr val="CE112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651120" y="759920"/>
              <a:ext cx="1500000" cy="18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700" b="0" i="0">
                  <a:solidFill>
                    <a:srgbClr val="FFFFFF"/>
                  </a:solidFill>
                  <a:latin typeface="DM Sans"/>
                </a:defRPr>
              </a:pPr>
              <a:r>
                <a:rPr sz="600" spc="300" dirty="0"/>
                <a:t>48°51′N · 2°21′E</a:t>
              </a:r>
            </a:p>
          </p:txBody>
        </p:sp>
      </p:grpSp>
      <p:sp>
        <p:nvSpPr>
          <p:cNvPr id="2" name="Rectangle 1"/>
          <p:cNvSpPr/>
          <p:nvPr/>
        </p:nvSpPr>
        <p:spPr>
          <a:xfrm>
            <a:off x="0" y="0"/>
            <a:ext cx="36000" cy="685800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D4732037-1CDA-251C-6EAC-7295B31E1F1B}"/>
              </a:ext>
            </a:extLst>
          </p:cNvPr>
          <p:cNvGrpSpPr/>
          <p:nvPr/>
        </p:nvGrpSpPr>
        <p:grpSpPr>
          <a:xfrm>
            <a:off x="0" y="6049849"/>
            <a:ext cx="6389840" cy="818153"/>
            <a:chOff x="0" y="6049849"/>
            <a:chExt cx="6389840" cy="818153"/>
          </a:xfrm>
        </p:grpSpPr>
        <p:sp>
          <p:nvSpPr>
            <p:cNvPr id="8" name="Rectangle 7"/>
            <p:cNvSpPr/>
            <p:nvPr/>
          </p:nvSpPr>
          <p:spPr>
            <a:xfrm>
              <a:off x="0" y="6049849"/>
              <a:ext cx="6339840" cy="3600"/>
            </a:xfrm>
            <a:prstGeom prst="rect">
              <a:avLst/>
            </a:prstGeom>
            <a:solidFill>
              <a:srgbClr val="667788">
                <a:alpha val="25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50000" y="6079850"/>
              <a:ext cx="1913280" cy="32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2600" b="0" i="0">
                  <a:solidFill>
                    <a:srgbClr val="FFFFFF"/>
                  </a:solidFill>
                  <a:latin typeface="Bebas Neue"/>
                </a:defRPr>
              </a:pPr>
              <a:r>
                <a:t>2,000+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50000" y="6429850"/>
              <a:ext cx="191328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700" b="0" i="0">
                  <a:solidFill>
                    <a:srgbClr val="556677"/>
                  </a:solidFill>
                  <a:latin typeface="DM Sans"/>
                </a:defRPr>
              </a:pPr>
              <a:r>
                <a:rPr dirty="0"/>
                <a:t>YEARS OF HISTORY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363280" y="6079850"/>
              <a:ext cx="1913280" cy="32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2600" b="0" i="0">
                  <a:solidFill>
                    <a:srgbClr val="FFFFFF"/>
                  </a:solidFill>
                  <a:latin typeface="Bebas Neue"/>
                </a:defRPr>
              </a:pPr>
              <a:r>
                <a:rPr dirty="0"/>
                <a:t>2.1M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363280" y="6429850"/>
              <a:ext cx="191328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700" b="0" i="0">
                  <a:solidFill>
                    <a:srgbClr val="556677"/>
                  </a:solidFill>
                  <a:latin typeface="DM Sans"/>
                </a:defRPr>
              </a:pPr>
              <a:r>
                <a:rPr dirty="0"/>
                <a:t>CITY POPULATION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476560" y="6079850"/>
              <a:ext cx="1913280" cy="32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2600" b="0" i="0">
                  <a:solidFill>
                    <a:srgbClr val="FFFFFF"/>
                  </a:solidFill>
                  <a:latin typeface="Bebas Neue"/>
                </a:defRPr>
              </a:pPr>
              <a:r>
                <a:t>#1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476560" y="6429850"/>
              <a:ext cx="191328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700" b="0" i="0">
                  <a:solidFill>
                    <a:srgbClr val="556677"/>
                  </a:solidFill>
                  <a:latin typeface="DM Sans"/>
                </a:defRPr>
              </a:pPr>
              <a:r>
                <a:rPr dirty="0"/>
                <a:t>MOST VISITED CITY</a:t>
              </a:r>
            </a:p>
          </p:txBody>
        </p:sp>
        <p:sp>
          <p:nvSpPr>
            <p:cNvPr id="36" name="Rectangle 7">
              <a:extLst>
                <a:ext uri="{FF2B5EF4-FFF2-40B4-BE49-F238E27FC236}">
                  <a16:creationId xmlns:a16="http://schemas.microsoft.com/office/drawing/2014/main" id="{6C9CF6C2-D388-A6B7-301A-600FD56CA697}"/>
                </a:ext>
              </a:extLst>
            </p:cNvPr>
            <p:cNvSpPr/>
            <p:nvPr/>
          </p:nvSpPr>
          <p:spPr>
            <a:xfrm rot="5400000" flipV="1">
              <a:off x="1743104" y="6460026"/>
              <a:ext cx="812352" cy="3600"/>
            </a:xfrm>
            <a:prstGeom prst="rect">
              <a:avLst/>
            </a:prstGeom>
            <a:solidFill>
              <a:srgbClr val="667788">
                <a:alpha val="25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Rectangle 7">
              <a:extLst>
                <a:ext uri="{FF2B5EF4-FFF2-40B4-BE49-F238E27FC236}">
                  <a16:creationId xmlns:a16="http://schemas.microsoft.com/office/drawing/2014/main" id="{403D89EF-FAE8-8E96-6F01-0AB6A93A4600}"/>
                </a:ext>
              </a:extLst>
            </p:cNvPr>
            <p:cNvSpPr/>
            <p:nvPr/>
          </p:nvSpPr>
          <p:spPr>
            <a:xfrm rot="5400000" flipV="1">
              <a:off x="3858184" y="6454226"/>
              <a:ext cx="812352" cy="3600"/>
            </a:xfrm>
            <a:prstGeom prst="rect">
              <a:avLst/>
            </a:prstGeom>
            <a:solidFill>
              <a:srgbClr val="667788">
                <a:alpha val="25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5" name="Rectangle 24"/>
          <p:cNvSpPr/>
          <p:nvPr/>
        </p:nvSpPr>
        <p:spPr>
          <a:xfrm>
            <a:off x="0" y="6822000"/>
            <a:ext cx="12192000" cy="3600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1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9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9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9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9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9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9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9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8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8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8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8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8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8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9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9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9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" grpId="0"/>
      <p:bldP spid="7" grpId="0"/>
      <p:bldP spid="19" grpId="0"/>
      <p:bldP spid="20" grpId="0"/>
      <p:bldP spid="23" grpId="0"/>
      <p:bldP spid="24" grpId="0"/>
      <p:bldP spid="2" grpId="0" animBg="1"/>
      <p:bldP spid="2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rcRect b="651"/>
          <a:stretch>
            <a:fillRect/>
          </a:stretch>
        </p:blipFill>
        <p:spPr>
          <a:xfrm>
            <a:off x="-3718986" y="-264000"/>
            <a:ext cx="11168359" cy="78501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705600" y="0"/>
            <a:ext cx="5486400" cy="6858000"/>
          </a:xfrm>
          <a:prstGeom prst="rect">
            <a:avLst/>
          </a:prstGeom>
          <a:solidFill>
            <a:srgbClr val="002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75600" y="3600000"/>
            <a:ext cx="440000" cy="1800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87828" y="-300000"/>
            <a:ext cx="2000000" cy="14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defRPr sz="12000" b="0" i="0">
                <a:solidFill>
                  <a:srgbClr val="002E5C"/>
                </a:solidFill>
                <a:latin typeface="Bebas Neue"/>
              </a:defRPr>
            </a:pPr>
            <a:r>
              <a:rPr dirty="0"/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61360" y="1966072"/>
            <a:ext cx="45864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800" b="1" i="0">
                <a:solidFill>
                  <a:srgbClr val="CE1126"/>
                </a:solidFill>
                <a:latin typeface="DM Sans"/>
              </a:defRPr>
            </a:pPr>
            <a:r>
              <a:rPr dirty="0"/>
              <a:t>LOCATION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55600" y="2243832"/>
            <a:ext cx="4586400" cy="123734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80000"/>
              </a:lnSpc>
              <a:defRPr sz="5400" b="0" i="0">
                <a:solidFill>
                  <a:srgbClr val="FFFFFF"/>
                </a:solidFill>
                <a:latin typeface="Bebas Neue"/>
              </a:defRPr>
            </a:pPr>
            <a:r>
              <a:rPr b="1" dirty="0"/>
              <a:t>WHERE</a:t>
            </a:r>
            <a:endParaRPr lang="en-US" b="1" dirty="0"/>
          </a:p>
          <a:p>
            <a:pPr algn="l">
              <a:lnSpc>
                <a:spcPct val="80000"/>
              </a:lnSpc>
              <a:defRPr sz="5400" b="0" i="0">
                <a:solidFill>
                  <a:srgbClr val="FFFFFF"/>
                </a:solidFill>
                <a:latin typeface="Bebas Neue"/>
              </a:defRPr>
            </a:pPr>
            <a:r>
              <a:rPr b="1" dirty="0"/>
              <a:t>IS IT?</a:t>
            </a: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A9C15E4D-5E55-786C-29C9-59FDBAA90D4D}"/>
              </a:ext>
            </a:extLst>
          </p:cNvPr>
          <p:cNvGrpSpPr/>
          <p:nvPr/>
        </p:nvGrpSpPr>
        <p:grpSpPr>
          <a:xfrm>
            <a:off x="7160680" y="3836000"/>
            <a:ext cx="4524501" cy="1120000"/>
            <a:chOff x="7152739" y="3800000"/>
            <a:chExt cx="4524501" cy="1120000"/>
          </a:xfrm>
        </p:grpSpPr>
        <p:sp>
          <p:nvSpPr>
            <p:cNvPr id="11" name="TextBox 10"/>
            <p:cNvSpPr txBox="1"/>
            <p:nvPr/>
          </p:nvSpPr>
          <p:spPr>
            <a:xfrm>
              <a:off x="7290840" y="3800000"/>
              <a:ext cx="438640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1000" b="0" i="0">
                  <a:solidFill>
                    <a:srgbClr val="8899AA"/>
                  </a:solidFill>
                  <a:latin typeface="DM Sans"/>
                </a:defRPr>
              </a:pPr>
              <a:r>
                <a:rPr sz="900" dirty="0"/>
                <a:t>NORTH-CENTRAL FRANCE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290840" y="4030000"/>
              <a:ext cx="438640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1000" b="0" i="0">
                  <a:solidFill>
                    <a:srgbClr val="8899AA"/>
                  </a:solidFill>
                  <a:latin typeface="DM Sans"/>
                </a:defRPr>
              </a:pPr>
              <a:r>
                <a:rPr sz="900" dirty="0"/>
                <a:t>SEINE RIVER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290840" y="4260000"/>
              <a:ext cx="438640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1000" b="0" i="0">
                  <a:solidFill>
                    <a:srgbClr val="8899AA"/>
                  </a:solidFill>
                  <a:latin typeface="DM Sans"/>
                </a:defRPr>
              </a:pPr>
              <a:r>
                <a:rPr sz="900" dirty="0"/>
                <a:t>48°N · 2°E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290840" y="4490000"/>
              <a:ext cx="438640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1000" b="0" i="0">
                  <a:solidFill>
                    <a:srgbClr val="8899AA"/>
                  </a:solidFill>
                  <a:latin typeface="DM Sans"/>
                </a:defRPr>
              </a:pPr>
              <a:r>
                <a:rPr sz="900" dirty="0"/>
                <a:t>CAPITAL CITY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275600" y="4720000"/>
              <a:ext cx="438640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1000" b="0" i="0">
                  <a:solidFill>
                    <a:srgbClr val="8899AA"/>
                  </a:solidFill>
                  <a:latin typeface="DM Sans"/>
                </a:defRPr>
              </a:pPr>
              <a:r>
                <a:rPr sz="900" dirty="0"/>
                <a:t>WESTERN EUROPE</a:t>
              </a:r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B7C300D3-70AE-136A-F444-D79A177CA3BC}"/>
                </a:ext>
              </a:extLst>
            </p:cNvPr>
            <p:cNvSpPr/>
            <p:nvPr/>
          </p:nvSpPr>
          <p:spPr>
            <a:xfrm>
              <a:off x="7160680" y="3856320"/>
              <a:ext cx="45719" cy="45719"/>
            </a:xfrm>
            <a:prstGeom prst="ellipse">
              <a:avLst/>
            </a:prstGeom>
            <a:solidFill>
              <a:srgbClr val="CE112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E3A80A3F-2E0D-107E-63DB-E44B52483370}"/>
                </a:ext>
              </a:extLst>
            </p:cNvPr>
            <p:cNvSpPr/>
            <p:nvPr/>
          </p:nvSpPr>
          <p:spPr>
            <a:xfrm>
              <a:off x="7155600" y="4087420"/>
              <a:ext cx="45719" cy="45719"/>
            </a:xfrm>
            <a:prstGeom prst="ellipse">
              <a:avLst/>
            </a:prstGeom>
            <a:solidFill>
              <a:srgbClr val="CE112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492F548B-5A0F-9B5E-6386-A0B4E5679800}"/>
                </a:ext>
              </a:extLst>
            </p:cNvPr>
            <p:cNvSpPr/>
            <p:nvPr/>
          </p:nvSpPr>
          <p:spPr>
            <a:xfrm>
              <a:off x="7152740" y="4303960"/>
              <a:ext cx="45719" cy="45719"/>
            </a:xfrm>
            <a:prstGeom prst="ellipse">
              <a:avLst/>
            </a:prstGeom>
            <a:solidFill>
              <a:srgbClr val="CE112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B9079335-19AE-293D-E1F7-9ECF638EE221}"/>
                </a:ext>
              </a:extLst>
            </p:cNvPr>
            <p:cNvSpPr/>
            <p:nvPr/>
          </p:nvSpPr>
          <p:spPr>
            <a:xfrm>
              <a:off x="7152740" y="4544281"/>
              <a:ext cx="45719" cy="45719"/>
            </a:xfrm>
            <a:prstGeom prst="ellipse">
              <a:avLst/>
            </a:prstGeom>
            <a:solidFill>
              <a:srgbClr val="CE112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541C9B6C-8FC7-296F-23ED-648165E44446}"/>
                </a:ext>
              </a:extLst>
            </p:cNvPr>
            <p:cNvSpPr/>
            <p:nvPr/>
          </p:nvSpPr>
          <p:spPr>
            <a:xfrm>
              <a:off x="7152739" y="4771920"/>
              <a:ext cx="45719" cy="45719"/>
            </a:xfrm>
            <a:prstGeom prst="ellipse">
              <a:avLst/>
            </a:prstGeom>
            <a:solidFill>
              <a:srgbClr val="CE112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41E4F1A-D0ED-4B20-E3DD-C658A421922C}"/>
              </a:ext>
            </a:extLst>
          </p:cNvPr>
          <p:cNvSpPr/>
          <p:nvPr/>
        </p:nvSpPr>
        <p:spPr>
          <a:xfrm>
            <a:off x="6705600" y="3401060"/>
            <a:ext cx="470000" cy="398940"/>
          </a:xfrm>
          <a:prstGeom prst="rect">
            <a:avLst/>
          </a:prstGeom>
          <a:solidFill>
            <a:srgbClr val="0026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F9C76B16-35FF-1F10-BB3A-F6047AF49556}"/>
              </a:ext>
            </a:extLst>
          </p:cNvPr>
          <p:cNvGrpSpPr/>
          <p:nvPr/>
        </p:nvGrpSpPr>
        <p:grpSpPr>
          <a:xfrm>
            <a:off x="290000" y="6358000"/>
            <a:ext cx="1410960" cy="300400"/>
            <a:chOff x="290000" y="6358000"/>
            <a:chExt cx="1410960" cy="300400"/>
          </a:xfrm>
        </p:grpSpPr>
        <p:sp>
          <p:nvSpPr>
            <p:cNvPr id="3" name="Rectangle 2"/>
            <p:cNvSpPr/>
            <p:nvPr/>
          </p:nvSpPr>
          <p:spPr>
            <a:xfrm>
              <a:off x="290000" y="6358000"/>
              <a:ext cx="1400000" cy="260000"/>
            </a:xfrm>
            <a:prstGeom prst="rect">
              <a:avLst/>
            </a:prstGeom>
            <a:solidFill>
              <a:srgbClr val="00265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400960" y="6448400"/>
              <a:ext cx="1300000" cy="21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800" b="1" i="0">
                  <a:solidFill>
                    <a:srgbClr val="FFFFFF"/>
                  </a:solidFill>
                  <a:latin typeface="DM Sans"/>
                </a:defRPr>
              </a:pPr>
              <a:r>
                <a:rPr sz="700" spc="300" dirty="0"/>
                <a:t>ÎLE-DE-FRANCE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8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8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8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8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8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8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8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8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8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8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6" presetClass="emp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6" dur="1400" fill="hold"/>
                                        <p:tgtEl>
                                          <p:spTgt spid="2"/>
                                        </p:tgtEl>
                                      </p:cBhvr>
                                      <p:by x="95000" y="9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/>
      <p:bldP spid="8" grpId="0" build="allAtOnce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2400" y="-492500"/>
            <a:ext cx="5486400" cy="8229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120640" y="0"/>
            <a:ext cx="7071360" cy="6858000"/>
          </a:xfrm>
          <a:prstGeom prst="rect">
            <a:avLst/>
          </a:prstGeom>
          <a:solidFill>
            <a:srgbClr val="002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A4EC62B7-E8F1-48D1-0410-1D1D757DC2C7}"/>
              </a:ext>
            </a:extLst>
          </p:cNvPr>
          <p:cNvGrpSpPr/>
          <p:nvPr/>
        </p:nvGrpSpPr>
        <p:grpSpPr>
          <a:xfrm>
            <a:off x="5590640" y="430000"/>
            <a:ext cx="6371360" cy="1870000"/>
            <a:chOff x="5590640" y="430000"/>
            <a:chExt cx="6371360" cy="1870000"/>
          </a:xfrm>
        </p:grpSpPr>
        <p:sp>
          <p:nvSpPr>
            <p:cNvPr id="6" name="TextBox 5"/>
            <p:cNvSpPr txBox="1"/>
            <p:nvPr/>
          </p:nvSpPr>
          <p:spPr>
            <a:xfrm>
              <a:off x="5590640" y="430000"/>
              <a:ext cx="617136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800" b="1" i="0">
                  <a:solidFill>
                    <a:srgbClr val="CE1126"/>
                  </a:solidFill>
                  <a:latin typeface="DM Sans"/>
                </a:defRPr>
              </a:pPr>
              <a:r>
                <a:rPr spc="300" dirty="0"/>
                <a:t>WHY I LOVE IT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5590640" y="700000"/>
              <a:ext cx="6371360" cy="16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lnSpc>
                  <a:spcPct val="80000"/>
                </a:lnSpc>
                <a:defRPr sz="5200" b="0" i="0">
                  <a:solidFill>
                    <a:srgbClr val="FFFFFF"/>
                  </a:solidFill>
                  <a:latin typeface="Bebas Neue"/>
                </a:defRPr>
              </a:pPr>
              <a:r>
                <a:rPr b="1" dirty="0"/>
                <a:t>REASONS</a:t>
              </a:r>
            </a:p>
            <a:p>
              <a:pPr algn="l">
                <a:lnSpc>
                  <a:spcPct val="80000"/>
                </a:lnSpc>
                <a:defRPr sz="5200" b="0" i="0">
                  <a:solidFill>
                    <a:srgbClr val="FFFFFF"/>
                  </a:solidFill>
                  <a:latin typeface="Bebas Neue"/>
                </a:defRPr>
              </a:pPr>
              <a:r>
                <a:rPr b="1" dirty="0"/>
                <a:t>TO LOVE</a:t>
              </a:r>
            </a:p>
            <a:p>
              <a:pPr algn="l">
                <a:lnSpc>
                  <a:spcPct val="80000"/>
                </a:lnSpc>
                <a:defRPr sz="5200" b="0" i="0">
                  <a:solidFill>
                    <a:srgbClr val="FFFFFF"/>
                  </a:solidFill>
                  <a:latin typeface="Bebas Neue"/>
                </a:defRPr>
              </a:pPr>
              <a:r>
                <a:rPr b="1" dirty="0"/>
                <a:t>PARIS</a:t>
              </a:r>
            </a:p>
          </p:txBody>
        </p:sp>
      </p:grpSp>
      <p:sp>
        <p:nvSpPr>
          <p:cNvPr id="8" name="Rectangle 7"/>
          <p:cNvSpPr/>
          <p:nvPr/>
        </p:nvSpPr>
        <p:spPr>
          <a:xfrm>
            <a:off x="5590640" y="2656320"/>
            <a:ext cx="440000" cy="1800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0923B26A-5FDE-04D8-6829-3EA68ACB260D}"/>
              </a:ext>
            </a:extLst>
          </p:cNvPr>
          <p:cNvGrpSpPr/>
          <p:nvPr/>
        </p:nvGrpSpPr>
        <p:grpSpPr>
          <a:xfrm>
            <a:off x="5590640" y="2972760"/>
            <a:ext cx="6121360" cy="2095160"/>
            <a:chOff x="5590640" y="2972760"/>
            <a:chExt cx="6121360" cy="2095160"/>
          </a:xfrm>
        </p:grpSpPr>
        <p:sp>
          <p:nvSpPr>
            <p:cNvPr id="9" name="TextBox 8"/>
            <p:cNvSpPr txBox="1"/>
            <p:nvPr/>
          </p:nvSpPr>
          <p:spPr>
            <a:xfrm>
              <a:off x="5590640" y="2972760"/>
              <a:ext cx="400000" cy="35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2800" b="0" i="0">
                  <a:solidFill>
                    <a:srgbClr val="CE1126"/>
                  </a:solidFill>
                  <a:latin typeface="Bebas Neue"/>
                </a:defRPr>
              </a:pPr>
              <a:r>
                <a:rPr lang="en-US" altLang="ko-KR" sz="2500" dirty="0"/>
                <a:t>01</a:t>
              </a:r>
              <a:endParaRPr sz="2500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040640" y="2988000"/>
              <a:ext cx="5671360" cy="3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2200" b="0" i="0">
                  <a:solidFill>
                    <a:srgbClr val="FFFFFF"/>
                  </a:solidFill>
                  <a:latin typeface="Bebas Neue"/>
                </a:defRPr>
              </a:pPr>
              <a:r>
                <a:rPr sz="2000" dirty="0"/>
                <a:t>ART &amp; ARCHITECTURE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040640" y="3308000"/>
              <a:ext cx="567136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800" b="0" i="0">
                  <a:solidFill>
                    <a:srgbClr val="667788"/>
                  </a:solidFill>
                  <a:latin typeface="DM Sans"/>
                </a:defRPr>
              </a:pPr>
              <a:r>
                <a:rPr sz="700" spc="300" dirty="0"/>
                <a:t>Louvre · Notre-Dame · Haussmann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590640" y="3585600"/>
              <a:ext cx="6121360" cy="3600"/>
            </a:xfrm>
            <a:prstGeom prst="rect">
              <a:avLst/>
            </a:prstGeom>
            <a:solidFill>
              <a:srgbClr val="667788">
                <a:alpha val="25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590640" y="3747640"/>
              <a:ext cx="400000" cy="35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2800" b="0" i="0">
                  <a:solidFill>
                    <a:srgbClr val="CE1126"/>
                  </a:solidFill>
                  <a:latin typeface="Bebas Neue"/>
                </a:defRPr>
              </a:pPr>
              <a:r>
                <a:rPr sz="2500" dirty="0"/>
                <a:t>02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040640" y="3762880"/>
              <a:ext cx="5671360" cy="3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2200" b="0" i="0">
                  <a:solidFill>
                    <a:srgbClr val="FFFFFF"/>
                  </a:solidFill>
                  <a:latin typeface="Bebas Neue"/>
                </a:defRPr>
              </a:pPr>
              <a:r>
                <a:rPr sz="2000" dirty="0"/>
                <a:t>GASTRONOMY &amp; CAFÉ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040640" y="4082880"/>
              <a:ext cx="567136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800" b="0" i="0">
                  <a:solidFill>
                    <a:srgbClr val="667788"/>
                  </a:solidFill>
                  <a:latin typeface="DM Sans"/>
                </a:defRPr>
              </a:pPr>
              <a:r>
                <a:rPr sz="700" spc="300" dirty="0"/>
                <a:t>Bistros · Patisseries · Michelin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5590640" y="4360240"/>
              <a:ext cx="6121360" cy="3600"/>
            </a:xfrm>
            <a:prstGeom prst="rect">
              <a:avLst/>
            </a:prstGeom>
            <a:solidFill>
              <a:srgbClr val="667788">
                <a:alpha val="25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590640" y="4532680"/>
              <a:ext cx="400000" cy="35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2800" b="0" i="0">
                  <a:solidFill>
                    <a:srgbClr val="CE1126"/>
                  </a:solidFill>
                  <a:latin typeface="Bebas Neue"/>
                </a:defRPr>
              </a:pPr>
              <a:r>
                <a:rPr sz="2500" dirty="0"/>
                <a:t>03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040640" y="4547920"/>
              <a:ext cx="5671360" cy="3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2200" b="0" i="0">
                  <a:solidFill>
                    <a:srgbClr val="FFFFFF"/>
                  </a:solidFill>
                  <a:latin typeface="Bebas Neue"/>
                </a:defRPr>
              </a:pPr>
              <a:r>
                <a:rPr sz="2000" dirty="0"/>
                <a:t>FASHION &amp; STYLE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040640" y="4867920"/>
              <a:ext cx="567136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800" b="0" i="0">
                  <a:solidFill>
                    <a:srgbClr val="667788"/>
                  </a:solidFill>
                  <a:latin typeface="DM Sans"/>
                </a:defRPr>
              </a:pPr>
              <a:r>
                <a:rPr sz="700" spc="300" dirty="0"/>
                <a:t>Haute Couture · Chanel · Savoir-Faire</a:t>
              </a: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9692000" y="4658000"/>
            <a:ext cx="2500000" cy="2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defRPr sz="20000" b="0" i="0">
                <a:solidFill>
                  <a:srgbClr val="002A58"/>
                </a:solidFill>
                <a:latin typeface="Bebas Neue"/>
              </a:defRPr>
            </a:pPr>
            <a:r>
              <a:t>P</a:t>
            </a: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C91FEEE3-3C39-D0F9-0EED-7C7E67CDF4AF}"/>
              </a:ext>
            </a:extLst>
          </p:cNvPr>
          <p:cNvGrpSpPr/>
          <p:nvPr/>
        </p:nvGrpSpPr>
        <p:grpSpPr>
          <a:xfrm>
            <a:off x="330000" y="330000"/>
            <a:ext cx="1100000" cy="269520"/>
            <a:chOff x="330000" y="330000"/>
            <a:chExt cx="1100000" cy="269520"/>
          </a:xfrm>
        </p:grpSpPr>
        <p:sp>
          <p:nvSpPr>
            <p:cNvPr id="3" name="Rectangle 2"/>
            <p:cNvSpPr/>
            <p:nvPr/>
          </p:nvSpPr>
          <p:spPr>
            <a:xfrm>
              <a:off x="330000" y="330000"/>
              <a:ext cx="1100000" cy="240000"/>
            </a:xfrm>
            <a:prstGeom prst="rect">
              <a:avLst/>
            </a:prstGeom>
            <a:solidFill>
              <a:srgbClr val="CE112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370000" y="389520"/>
              <a:ext cx="1020000" cy="21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ctr">
                <a:defRPr sz="700" b="1" i="0">
                  <a:solidFill>
                    <a:srgbClr val="FFFFFF"/>
                  </a:solidFill>
                  <a:latin typeface="DM Sans"/>
                </a:defRPr>
              </a:pPr>
              <a:r>
                <a:rPr spc="300" dirty="0"/>
                <a:t>WHY PARIS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</p:cBhvr>
                                      <p:by x="95000" y="95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9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9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9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6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3"/>
          <a:srcRect r="21808"/>
          <a:stretch>
            <a:fillRect/>
          </a:stretch>
        </p:blipFill>
        <p:spPr>
          <a:xfrm>
            <a:off x="5477913" y="-309410"/>
            <a:ext cx="6940425" cy="7476820"/>
          </a:xfrm>
          <a:prstGeom prst="rect">
            <a:avLst/>
          </a:prstGeom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E3E59F07-2F54-F89A-98F8-73A008737E19}"/>
              </a:ext>
            </a:extLst>
          </p:cNvPr>
          <p:cNvSpPr/>
          <p:nvPr/>
        </p:nvSpPr>
        <p:spPr>
          <a:xfrm>
            <a:off x="0" y="0"/>
            <a:ext cx="5806000" cy="6852213"/>
          </a:xfrm>
          <a:prstGeom prst="rect">
            <a:avLst/>
          </a:prstGeom>
          <a:solidFill>
            <a:srgbClr val="002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-150000" y="5158000"/>
            <a:ext cx="5000000" cy="17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5000" b="0" i="0">
                <a:solidFill>
                  <a:srgbClr val="002E5C"/>
                </a:solidFill>
                <a:latin typeface="Bebas Neue"/>
              </a:defRPr>
            </a:pPr>
            <a:r>
              <a:rPr dirty="0"/>
              <a:t>1889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0000" y="1800000"/>
            <a:ext cx="52960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800" b="1" i="0">
                <a:solidFill>
                  <a:srgbClr val="CE1126"/>
                </a:solidFill>
                <a:latin typeface="DM Sans"/>
              </a:defRPr>
            </a:pPr>
            <a:r>
              <a:rPr spc="300" dirty="0"/>
              <a:t>HISTORICAL FUN FACT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0000" y="2150000"/>
            <a:ext cx="5296000" cy="18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90000"/>
              </a:lnSpc>
              <a:defRPr sz="4400" b="0" i="1">
                <a:solidFill>
                  <a:srgbClr val="FFFFFF"/>
                </a:solidFill>
                <a:latin typeface="Playfair Display"/>
              </a:defRPr>
            </a:pPr>
            <a:r>
              <a:rPr b="1" dirty="0"/>
              <a:t>Built to</a:t>
            </a:r>
          </a:p>
          <a:p>
            <a:pPr algn="l">
              <a:lnSpc>
                <a:spcPct val="90000"/>
              </a:lnSpc>
              <a:defRPr sz="4400" b="0" i="1">
                <a:solidFill>
                  <a:srgbClr val="FFFFFF"/>
                </a:solidFill>
                <a:latin typeface="Playfair Display"/>
              </a:defRPr>
            </a:pPr>
            <a:r>
              <a:rPr b="1" dirty="0"/>
              <a:t>be torn</a:t>
            </a:r>
          </a:p>
          <a:p>
            <a:pPr algn="l">
              <a:lnSpc>
                <a:spcPct val="90000"/>
              </a:lnSpc>
              <a:defRPr sz="4400" b="0" i="1">
                <a:solidFill>
                  <a:srgbClr val="FFFFFF"/>
                </a:solidFill>
                <a:latin typeface="Playfair Display"/>
              </a:defRPr>
            </a:pPr>
            <a:r>
              <a:rPr b="1" dirty="0"/>
              <a:t>down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B465037F-0486-A464-46EE-89E74057C6FB}"/>
              </a:ext>
            </a:extLst>
          </p:cNvPr>
          <p:cNvGrpSpPr/>
          <p:nvPr/>
        </p:nvGrpSpPr>
        <p:grpSpPr>
          <a:xfrm>
            <a:off x="510000" y="4200000"/>
            <a:ext cx="4548000" cy="270800"/>
            <a:chOff x="510000" y="4200000"/>
            <a:chExt cx="4548000" cy="270800"/>
          </a:xfrm>
        </p:grpSpPr>
        <p:sp>
          <p:nvSpPr>
            <p:cNvPr id="5" name="Rectangle 4"/>
            <p:cNvSpPr/>
            <p:nvPr/>
          </p:nvSpPr>
          <p:spPr>
            <a:xfrm>
              <a:off x="510000" y="4200000"/>
              <a:ext cx="1084000" cy="240000"/>
            </a:xfrm>
            <a:prstGeom prst="rect">
              <a:avLst/>
            </a:prstGeom>
            <a:solidFill>
              <a:srgbClr val="CE112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530000" y="4255560"/>
              <a:ext cx="104400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ctr">
                <a:defRPr sz="800" b="0" i="0">
                  <a:solidFill>
                    <a:srgbClr val="FFFFFF"/>
                  </a:solidFill>
                  <a:latin typeface="DM Sans"/>
                </a:defRPr>
              </a:pPr>
              <a:r>
                <a:rPr dirty="0"/>
                <a:t>EIFFEL TOWER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1664000" y="4200000"/>
              <a:ext cx="508000" cy="240000"/>
            </a:xfrm>
            <a:prstGeom prst="rect">
              <a:avLst/>
            </a:prstGeom>
            <a:noFill/>
            <a:ln w="9525">
              <a:solidFill>
                <a:srgbClr val="44556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684000" y="4255560"/>
              <a:ext cx="46800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ctr">
                <a:defRPr sz="800" b="0" i="0">
                  <a:solidFill>
                    <a:srgbClr val="AABBCC"/>
                  </a:solidFill>
                  <a:latin typeface="DM Sans"/>
                </a:defRPr>
              </a:pPr>
              <a:r>
                <a:rPr dirty="0"/>
                <a:t>1889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2242000" y="4200000"/>
              <a:ext cx="868000" cy="240000"/>
            </a:xfrm>
            <a:prstGeom prst="rect">
              <a:avLst/>
            </a:prstGeom>
            <a:noFill/>
            <a:ln w="9525">
              <a:solidFill>
                <a:srgbClr val="44556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262000" y="4255560"/>
              <a:ext cx="82800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ctr">
                <a:defRPr sz="800" b="0" i="0">
                  <a:solidFill>
                    <a:srgbClr val="AABBCC"/>
                  </a:solidFill>
                  <a:latin typeface="DM Sans"/>
                </a:defRPr>
              </a:pPr>
              <a:r>
                <a:rPr dirty="0"/>
                <a:t>TEMPORARY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180000" y="4200000"/>
              <a:ext cx="940000" cy="240000"/>
            </a:xfrm>
            <a:prstGeom prst="rect">
              <a:avLst/>
            </a:prstGeom>
            <a:noFill/>
            <a:ln w="9525">
              <a:solidFill>
                <a:srgbClr val="44556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200000" y="4260640"/>
              <a:ext cx="90000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ctr">
                <a:defRPr sz="800" b="0" i="0">
                  <a:solidFill>
                    <a:srgbClr val="AABBCC"/>
                  </a:solidFill>
                  <a:latin typeface="DM Sans"/>
                </a:defRPr>
              </a:pPr>
              <a:r>
                <a:rPr dirty="0"/>
                <a:t>IRON GIANT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190000" y="4200000"/>
              <a:ext cx="868000" cy="240000"/>
            </a:xfrm>
            <a:prstGeom prst="rect">
              <a:avLst/>
            </a:prstGeom>
            <a:noFill/>
            <a:ln w="9525">
              <a:solidFill>
                <a:srgbClr val="44556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210000" y="4270800"/>
              <a:ext cx="82800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ctr">
                <a:defRPr sz="800" b="0" i="0">
                  <a:solidFill>
                    <a:srgbClr val="AABBCC"/>
                  </a:solidFill>
                  <a:latin typeface="DM Sans"/>
                </a:defRPr>
              </a:pPr>
              <a:r>
                <a:rPr dirty="0"/>
                <a:t>300M TALL</a:t>
              </a: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C6A55B7B-8DD2-8AD0-430A-519DE0B78D77}"/>
              </a:ext>
            </a:extLst>
          </p:cNvPr>
          <p:cNvGrpSpPr/>
          <p:nvPr/>
        </p:nvGrpSpPr>
        <p:grpSpPr>
          <a:xfrm>
            <a:off x="10209821" y="5699760"/>
            <a:ext cx="1570702" cy="758239"/>
            <a:chOff x="10209820" y="5558000"/>
            <a:chExt cx="1864360" cy="900000"/>
          </a:xfrm>
        </p:grpSpPr>
        <p:sp>
          <p:nvSpPr>
            <p:cNvPr id="17" name="Rectangle 16"/>
            <p:cNvSpPr/>
            <p:nvPr/>
          </p:nvSpPr>
          <p:spPr>
            <a:xfrm>
              <a:off x="10413630" y="5558000"/>
              <a:ext cx="1456740" cy="900000"/>
            </a:xfrm>
            <a:prstGeom prst="rect">
              <a:avLst/>
            </a:prstGeom>
            <a:noFill/>
            <a:ln w="63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0592000" y="5658000"/>
              <a:ext cx="1100000" cy="5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ctr">
                <a:defRPr sz="4000" b="0" i="0">
                  <a:solidFill>
                    <a:srgbClr val="FFFFFF"/>
                  </a:solidFill>
                  <a:latin typeface="Bebas Neue"/>
                </a:defRPr>
              </a:pPr>
              <a:r>
                <a:rPr dirty="0"/>
                <a:t>1889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0209820" y="6208000"/>
              <a:ext cx="186436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ctr">
                <a:defRPr sz="700" b="0" i="0">
                  <a:solidFill>
                    <a:srgbClr val="8899AA"/>
                  </a:solidFill>
                  <a:latin typeface="DM Sans"/>
                </a:defRPr>
              </a:pPr>
              <a:r>
                <a:rPr sz="600" kern="1400" dirty="0">
                  <a:solidFill>
                    <a:schemeClr val="bg1"/>
                  </a:solidFill>
                </a:rPr>
                <a:t>W</a:t>
              </a:r>
              <a:r>
                <a:rPr lang="en-US" sz="600" kern="1400" dirty="0">
                  <a:solidFill>
                    <a:schemeClr val="bg1"/>
                  </a:solidFill>
                </a:rPr>
                <a:t> </a:t>
              </a:r>
              <a:r>
                <a:rPr sz="600" kern="1400" dirty="0">
                  <a:solidFill>
                    <a:schemeClr val="bg1"/>
                  </a:solidFill>
                </a:rPr>
                <a:t>O</a:t>
              </a:r>
              <a:r>
                <a:rPr lang="en-US" sz="600" kern="1400" dirty="0">
                  <a:solidFill>
                    <a:schemeClr val="bg1"/>
                  </a:solidFill>
                </a:rPr>
                <a:t> </a:t>
              </a:r>
              <a:r>
                <a:rPr sz="600" kern="1400" dirty="0">
                  <a:solidFill>
                    <a:schemeClr val="bg1"/>
                  </a:solidFill>
                </a:rPr>
                <a:t>R</a:t>
              </a:r>
              <a:r>
                <a:rPr lang="en-US" sz="600" kern="1400" dirty="0">
                  <a:solidFill>
                    <a:schemeClr val="bg1"/>
                  </a:solidFill>
                </a:rPr>
                <a:t> </a:t>
              </a:r>
              <a:r>
                <a:rPr sz="600" kern="1400" dirty="0">
                  <a:solidFill>
                    <a:schemeClr val="bg1"/>
                  </a:solidFill>
                </a:rPr>
                <a:t>L</a:t>
              </a:r>
              <a:r>
                <a:rPr lang="en-US" sz="600" kern="1400" dirty="0">
                  <a:solidFill>
                    <a:schemeClr val="bg1"/>
                  </a:solidFill>
                </a:rPr>
                <a:t> </a:t>
              </a:r>
              <a:r>
                <a:rPr sz="600" kern="1400" dirty="0">
                  <a:solidFill>
                    <a:schemeClr val="bg1"/>
                  </a:solidFill>
                </a:rPr>
                <a:t>D</a:t>
              </a:r>
              <a:r>
                <a:rPr lang="en-US" sz="600" kern="1400" dirty="0">
                  <a:solidFill>
                    <a:schemeClr val="bg1"/>
                  </a:solidFill>
                </a:rPr>
                <a:t> </a:t>
              </a:r>
              <a:r>
                <a:rPr sz="600" kern="1400" dirty="0">
                  <a:solidFill>
                    <a:schemeClr val="bg1"/>
                  </a:solidFill>
                </a:rPr>
                <a:t>'</a:t>
              </a:r>
              <a:r>
                <a:rPr lang="en-US" sz="600" kern="1400" dirty="0">
                  <a:solidFill>
                    <a:schemeClr val="bg1"/>
                  </a:solidFill>
                </a:rPr>
                <a:t> </a:t>
              </a:r>
              <a:r>
                <a:rPr sz="600" kern="1400" dirty="0">
                  <a:solidFill>
                    <a:schemeClr val="bg1"/>
                  </a:solidFill>
                </a:rPr>
                <a:t>S</a:t>
              </a:r>
              <a:r>
                <a:rPr lang="en-US" sz="600" kern="1400" dirty="0">
                  <a:solidFill>
                    <a:schemeClr val="bg1"/>
                  </a:solidFill>
                </a:rPr>
                <a:t> </a:t>
              </a:r>
              <a:r>
                <a:rPr sz="600" kern="1400" dirty="0">
                  <a:solidFill>
                    <a:schemeClr val="bg1"/>
                  </a:solidFill>
                </a:rPr>
                <a:t> F</a:t>
              </a:r>
              <a:r>
                <a:rPr lang="en-US" sz="600" kern="1400" dirty="0">
                  <a:solidFill>
                    <a:schemeClr val="bg1"/>
                  </a:solidFill>
                </a:rPr>
                <a:t> </a:t>
              </a:r>
              <a:r>
                <a:rPr sz="600" kern="1400" dirty="0">
                  <a:solidFill>
                    <a:schemeClr val="bg1"/>
                  </a:solidFill>
                </a:rPr>
                <a:t>A</a:t>
              </a:r>
              <a:r>
                <a:rPr lang="en-US" sz="600" kern="1400" dirty="0">
                  <a:solidFill>
                    <a:schemeClr val="bg1"/>
                  </a:solidFill>
                </a:rPr>
                <a:t> </a:t>
              </a:r>
              <a:r>
                <a:rPr sz="600" kern="1400" dirty="0">
                  <a:solidFill>
                    <a:schemeClr val="bg1"/>
                  </a:solidFill>
                </a:rPr>
                <a:t>I</a:t>
              </a:r>
              <a:r>
                <a:rPr lang="en-US" sz="600" kern="1400" dirty="0">
                  <a:solidFill>
                    <a:schemeClr val="bg1"/>
                  </a:solidFill>
                </a:rPr>
                <a:t> </a:t>
              </a:r>
              <a:r>
                <a:rPr sz="600" kern="1400" dirty="0">
                  <a:solidFill>
                    <a:schemeClr val="bg1"/>
                  </a:solidFill>
                </a:rPr>
                <a:t>R</a:t>
              </a:r>
              <a:r>
                <a:rPr lang="en-US" sz="600" kern="1400" dirty="0">
                  <a:solidFill>
                    <a:schemeClr val="bg1"/>
                  </a:solidFill>
                </a:rPr>
                <a:t> </a:t>
              </a:r>
              <a:r>
                <a:rPr sz="600" kern="1400" dirty="0">
                  <a:solidFill>
                    <a:schemeClr val="bg1"/>
                  </a:solidFill>
                </a:rPr>
                <a:t> </a:t>
              </a:r>
              <a:r>
                <a:rPr lang="en-US" sz="600" kern="1400" dirty="0">
                  <a:solidFill>
                    <a:schemeClr val="bg1"/>
                  </a:solidFill>
                </a:rPr>
                <a:t> </a:t>
              </a:r>
              <a:r>
                <a:rPr sz="600" kern="1400" dirty="0">
                  <a:solidFill>
                    <a:schemeClr val="bg1"/>
                  </a:solidFill>
                </a:rPr>
                <a:t>·</a:t>
              </a:r>
              <a:r>
                <a:rPr lang="en-US" sz="600" kern="1400" dirty="0">
                  <a:solidFill>
                    <a:schemeClr val="bg1"/>
                  </a:solidFill>
                </a:rPr>
                <a:t> </a:t>
              </a:r>
              <a:r>
                <a:rPr sz="600" kern="1400" dirty="0">
                  <a:solidFill>
                    <a:schemeClr val="bg1"/>
                  </a:solidFill>
                </a:rPr>
                <a:t> </a:t>
              </a:r>
              <a:r>
                <a:rPr lang="en-US" sz="600" kern="1400" dirty="0">
                  <a:solidFill>
                    <a:schemeClr val="bg1"/>
                  </a:solidFill>
                </a:rPr>
                <a:t> </a:t>
              </a:r>
              <a:r>
                <a:rPr sz="600" kern="1400" dirty="0">
                  <a:solidFill>
                    <a:schemeClr val="bg1"/>
                  </a:solidFill>
                </a:rPr>
                <a:t>P</a:t>
              </a:r>
              <a:r>
                <a:rPr lang="en-US" sz="600" kern="1400" dirty="0">
                  <a:solidFill>
                    <a:schemeClr val="bg1"/>
                  </a:solidFill>
                </a:rPr>
                <a:t> </a:t>
              </a:r>
              <a:r>
                <a:rPr sz="600" kern="1400" dirty="0">
                  <a:solidFill>
                    <a:schemeClr val="bg1"/>
                  </a:solidFill>
                </a:rPr>
                <a:t>A</a:t>
              </a:r>
              <a:r>
                <a:rPr lang="en-US" sz="600" kern="1400" dirty="0">
                  <a:solidFill>
                    <a:schemeClr val="bg1"/>
                  </a:solidFill>
                </a:rPr>
                <a:t> </a:t>
              </a:r>
              <a:r>
                <a:rPr sz="600" kern="1400" dirty="0">
                  <a:solidFill>
                    <a:schemeClr val="bg1"/>
                  </a:solidFill>
                </a:rPr>
                <a:t>R</a:t>
              </a:r>
              <a:r>
                <a:rPr lang="en-US" sz="600" kern="1400" dirty="0">
                  <a:solidFill>
                    <a:schemeClr val="bg1"/>
                  </a:solidFill>
                </a:rPr>
                <a:t> </a:t>
              </a:r>
              <a:r>
                <a:rPr sz="600" kern="1400" dirty="0">
                  <a:solidFill>
                    <a:schemeClr val="bg1"/>
                  </a:solidFill>
                </a:rPr>
                <a:t>I</a:t>
              </a:r>
              <a:r>
                <a:rPr lang="en-US" sz="600" kern="1400" dirty="0">
                  <a:solidFill>
                    <a:schemeClr val="bg1"/>
                  </a:solidFill>
                </a:rPr>
                <a:t> </a:t>
              </a:r>
              <a:r>
                <a:rPr sz="600" kern="1400" dirty="0">
                  <a:solidFill>
                    <a:schemeClr val="bg1"/>
                  </a:solidFill>
                </a:rPr>
                <a:t>S</a:t>
              </a:r>
            </a:p>
          </p:txBody>
        </p:sp>
      </p:grpSp>
      <p:sp>
        <p:nvSpPr>
          <p:cNvPr id="16" name="Rectangle 15"/>
          <p:cNvSpPr/>
          <p:nvPr/>
        </p:nvSpPr>
        <p:spPr>
          <a:xfrm>
            <a:off x="5806000" y="-5788"/>
            <a:ext cx="3326425" cy="7054770"/>
          </a:xfrm>
          <a:prstGeom prst="rect">
            <a:avLst/>
          </a:prstGeom>
          <a:gradFill flip="none" rotWithShape="1">
            <a:gsLst>
              <a:gs pos="16000">
                <a:srgbClr val="163C6D"/>
              </a:gs>
              <a:gs pos="69000">
                <a:srgbClr val="6086BE">
                  <a:alpha val="50000"/>
                </a:srgbClr>
              </a:gs>
              <a:gs pos="23080">
                <a:srgbClr val="204678"/>
              </a:gs>
              <a:gs pos="38000">
                <a:srgbClr val="31578B">
                  <a:alpha val="75000"/>
                </a:srgbClr>
              </a:gs>
              <a:gs pos="0">
                <a:srgbClr val="002654"/>
              </a:gs>
              <a:gs pos="100000">
                <a:schemeClr val="accent1">
                  <a:tint val="50000"/>
                  <a:shade val="100000"/>
                  <a:satMod val="350000"/>
                  <a:alpha val="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1400" fill="hold"/>
                                        <p:tgtEl>
                                          <p:spTgt spid="15"/>
                                        </p:tgtEl>
                                      </p:cBhvr>
                                      <p:by x="95000" y="95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8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8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8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파리 공개: 빛의 도시에서 꼭 해야 할 25가지 » Agoda: See The World For Less">
            <a:extLst>
              <a:ext uri="{FF2B5EF4-FFF2-40B4-BE49-F238E27FC236}">
                <a16:creationId xmlns:a16="http://schemas.microsoft.com/office/drawing/2014/main" id="{70F5B3C2-2915-E96C-4448-10BCD6C89B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01977" y="-1228432"/>
            <a:ext cx="13255954" cy="8826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DBF216A1-6896-CE8A-21BB-70D95BCE5DDD}"/>
              </a:ext>
            </a:extLst>
          </p:cNvPr>
          <p:cNvSpPr/>
          <p:nvPr/>
        </p:nvSpPr>
        <p:spPr>
          <a:xfrm>
            <a:off x="-4000" y="4114800"/>
            <a:ext cx="12184000" cy="2748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7CA046EE-14E3-8623-1F22-BAB83B999A39}"/>
              </a:ext>
            </a:extLst>
          </p:cNvPr>
          <p:cNvGrpSpPr/>
          <p:nvPr/>
        </p:nvGrpSpPr>
        <p:grpSpPr>
          <a:xfrm>
            <a:off x="372944" y="330000"/>
            <a:ext cx="1699696" cy="304634"/>
            <a:chOff x="372944" y="330000"/>
            <a:chExt cx="1699696" cy="304634"/>
          </a:xfrm>
        </p:grpSpPr>
        <p:sp>
          <p:nvSpPr>
            <p:cNvPr id="3" name="Rectangle 2"/>
            <p:cNvSpPr/>
            <p:nvPr/>
          </p:nvSpPr>
          <p:spPr>
            <a:xfrm>
              <a:off x="372944" y="330000"/>
              <a:ext cx="1699696" cy="260000"/>
            </a:xfrm>
            <a:prstGeom prst="rect">
              <a:avLst/>
            </a:prstGeom>
            <a:solidFill>
              <a:srgbClr val="CE112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480000" y="404634"/>
              <a:ext cx="1520000" cy="23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ctr">
                <a:defRPr sz="800" b="1" i="0">
                  <a:solidFill>
                    <a:srgbClr val="FFFFFF"/>
                  </a:solidFill>
                  <a:latin typeface="DM Sans"/>
                </a:defRPr>
              </a:pPr>
              <a:r>
                <a:rPr spc="300" dirty="0"/>
                <a:t>MODERN FUN FACT</a:t>
              </a:r>
            </a:p>
          </p:txBody>
        </p:sp>
      </p:grpSp>
      <p:sp>
        <p:nvSpPr>
          <p:cNvPr id="5" name="Rectangle 4"/>
          <p:cNvSpPr/>
          <p:nvPr/>
        </p:nvSpPr>
        <p:spPr>
          <a:xfrm>
            <a:off x="0" y="4114800"/>
            <a:ext cx="12192000" cy="3600"/>
          </a:xfrm>
          <a:prstGeom prst="rect">
            <a:avLst/>
          </a:prstGeom>
          <a:solidFill>
            <a:srgbClr val="DDDCD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DBD5C78C-3B9E-EE46-32FF-0B33CFAE2A10}"/>
              </a:ext>
            </a:extLst>
          </p:cNvPr>
          <p:cNvGrpSpPr/>
          <p:nvPr/>
        </p:nvGrpSpPr>
        <p:grpSpPr>
          <a:xfrm>
            <a:off x="330000" y="4404800"/>
            <a:ext cx="2648000" cy="1000000"/>
            <a:chOff x="330000" y="4404800"/>
            <a:chExt cx="2648000" cy="1000000"/>
          </a:xfrm>
        </p:grpSpPr>
        <p:sp>
          <p:nvSpPr>
            <p:cNvPr id="6" name="TextBox 5"/>
            <p:cNvSpPr txBox="1"/>
            <p:nvPr/>
          </p:nvSpPr>
          <p:spPr>
            <a:xfrm>
              <a:off x="330000" y="4404800"/>
              <a:ext cx="2648000" cy="4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3000" b="0" i="0">
                  <a:solidFill>
                    <a:srgbClr val="002654"/>
                  </a:solidFill>
                  <a:latin typeface="Bebas Neue"/>
                </a:defRPr>
              </a:pPr>
              <a:r>
                <a:t>#1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30000" y="4784800"/>
              <a:ext cx="264800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800" b="0" i="0">
                  <a:solidFill>
                    <a:srgbClr val="CE1126"/>
                  </a:solidFill>
                  <a:latin typeface="DM Sans"/>
                </a:defRPr>
              </a:pPr>
              <a:r>
                <a:t>TOURISM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30000" y="5004800"/>
              <a:ext cx="2648000" cy="4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lnSpc>
                  <a:spcPct val="120000"/>
                </a:lnSpc>
                <a:defRPr sz="800" b="0" i="0">
                  <a:solidFill>
                    <a:srgbClr val="778899"/>
                  </a:solidFill>
                  <a:latin typeface="DM Sans"/>
                </a:defRPr>
              </a:pPr>
              <a:r>
                <a:rPr dirty="0"/>
                <a:t>Most Visited</a:t>
              </a:r>
            </a:p>
            <a:p>
              <a:pPr algn="l">
                <a:lnSpc>
                  <a:spcPct val="120000"/>
                </a:lnSpc>
                <a:defRPr sz="800" b="0" i="0">
                  <a:solidFill>
                    <a:srgbClr val="778899"/>
                  </a:solidFill>
                  <a:latin typeface="DM Sans"/>
                </a:defRPr>
              </a:pPr>
              <a:r>
                <a:rPr dirty="0"/>
                <a:t>City · World</a:t>
              </a:r>
            </a:p>
          </p:txBody>
        </p:sp>
      </p:grpSp>
      <p:sp>
        <p:nvSpPr>
          <p:cNvPr id="9" name="Rectangle 8"/>
          <p:cNvSpPr/>
          <p:nvPr/>
        </p:nvSpPr>
        <p:spPr>
          <a:xfrm>
            <a:off x="3044000" y="4114800"/>
            <a:ext cx="3600" cy="2743200"/>
          </a:xfrm>
          <a:prstGeom prst="rect">
            <a:avLst/>
          </a:prstGeom>
          <a:solidFill>
            <a:srgbClr val="E8E7E4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29D885DC-F6C9-440E-13D8-E906C37D3B8A}"/>
              </a:ext>
            </a:extLst>
          </p:cNvPr>
          <p:cNvGrpSpPr/>
          <p:nvPr/>
        </p:nvGrpSpPr>
        <p:grpSpPr>
          <a:xfrm>
            <a:off x="3378000" y="4404800"/>
            <a:ext cx="2648000" cy="1000000"/>
            <a:chOff x="3378000" y="4404800"/>
            <a:chExt cx="2648000" cy="1000000"/>
          </a:xfrm>
        </p:grpSpPr>
        <p:sp>
          <p:nvSpPr>
            <p:cNvPr id="10" name="TextBox 9"/>
            <p:cNvSpPr txBox="1"/>
            <p:nvPr/>
          </p:nvSpPr>
          <p:spPr>
            <a:xfrm>
              <a:off x="3378000" y="4404800"/>
              <a:ext cx="2648000" cy="4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3000" b="0" i="0">
                  <a:solidFill>
                    <a:srgbClr val="002654"/>
                  </a:solidFill>
                  <a:latin typeface="Bebas Neue"/>
                </a:defRPr>
              </a:pPr>
              <a:r>
                <a:rPr dirty="0"/>
                <a:t>100M+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378000" y="4784800"/>
              <a:ext cx="264800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800" b="0" i="0">
                  <a:solidFill>
                    <a:srgbClr val="CE1126"/>
                  </a:solidFill>
                  <a:latin typeface="DM Sans"/>
                </a:defRPr>
              </a:pPr>
              <a:r>
                <a:t>VISITORS / YEAR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378000" y="5004800"/>
              <a:ext cx="2648000" cy="4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lnSpc>
                  <a:spcPct val="120000"/>
                </a:lnSpc>
                <a:defRPr sz="800" b="0" i="0">
                  <a:solidFill>
                    <a:srgbClr val="778899"/>
                  </a:solidFill>
                  <a:latin typeface="DM Sans"/>
                </a:defRPr>
              </a:pPr>
              <a:r>
                <a:rPr dirty="0"/>
                <a:t>Pre-Pandemic</a:t>
              </a:r>
            </a:p>
            <a:p>
              <a:pPr algn="l">
                <a:lnSpc>
                  <a:spcPct val="120000"/>
                </a:lnSpc>
                <a:defRPr sz="800" b="0" i="0">
                  <a:solidFill>
                    <a:srgbClr val="778899"/>
                  </a:solidFill>
                  <a:latin typeface="DM Sans"/>
                </a:defRPr>
              </a:pPr>
              <a:r>
                <a:rPr dirty="0"/>
                <a:t>Record</a:t>
              </a:r>
            </a:p>
          </p:txBody>
        </p:sp>
      </p:grpSp>
      <p:sp>
        <p:nvSpPr>
          <p:cNvPr id="13" name="Rectangle 12"/>
          <p:cNvSpPr/>
          <p:nvPr/>
        </p:nvSpPr>
        <p:spPr>
          <a:xfrm>
            <a:off x="6092000" y="4114800"/>
            <a:ext cx="3600" cy="2743200"/>
          </a:xfrm>
          <a:prstGeom prst="rect">
            <a:avLst/>
          </a:prstGeom>
          <a:solidFill>
            <a:srgbClr val="E8E7E4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9D97FDFE-CD2A-3ABC-658A-C35FD483E3A1}"/>
              </a:ext>
            </a:extLst>
          </p:cNvPr>
          <p:cNvGrpSpPr/>
          <p:nvPr/>
        </p:nvGrpSpPr>
        <p:grpSpPr>
          <a:xfrm>
            <a:off x="6426000" y="4404800"/>
            <a:ext cx="2648000" cy="1000000"/>
            <a:chOff x="6426000" y="4404800"/>
            <a:chExt cx="2648000" cy="1000000"/>
          </a:xfrm>
        </p:grpSpPr>
        <p:sp>
          <p:nvSpPr>
            <p:cNvPr id="14" name="TextBox 13"/>
            <p:cNvSpPr txBox="1"/>
            <p:nvPr/>
          </p:nvSpPr>
          <p:spPr>
            <a:xfrm>
              <a:off x="6426000" y="4404800"/>
              <a:ext cx="2648000" cy="4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3000" b="0" i="0">
                  <a:solidFill>
                    <a:srgbClr val="002654"/>
                  </a:solidFill>
                  <a:latin typeface="Bebas Neue"/>
                </a:defRPr>
              </a:pPr>
              <a:r>
                <a:rPr dirty="0"/>
                <a:t>4,500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426000" y="4784800"/>
              <a:ext cx="264800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800" b="0" i="0">
                  <a:solidFill>
                    <a:srgbClr val="CE1126"/>
                  </a:solidFill>
                  <a:latin typeface="DM Sans"/>
                </a:defRPr>
              </a:pPr>
              <a:r>
                <a:t>RESTAURANTS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426000" y="5004800"/>
              <a:ext cx="2648000" cy="4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lnSpc>
                  <a:spcPct val="120000"/>
                </a:lnSpc>
                <a:defRPr sz="800" b="0" i="0">
                  <a:solidFill>
                    <a:srgbClr val="778899"/>
                  </a:solidFill>
                  <a:latin typeface="DM Sans"/>
                </a:defRPr>
              </a:pPr>
              <a:r>
                <a:rPr dirty="0"/>
                <a:t>Michelin Star</a:t>
              </a:r>
            </a:p>
            <a:p>
              <a:pPr algn="l">
                <a:lnSpc>
                  <a:spcPct val="120000"/>
                </a:lnSpc>
                <a:defRPr sz="800" b="0" i="0">
                  <a:solidFill>
                    <a:srgbClr val="778899"/>
                  </a:solidFill>
                  <a:latin typeface="DM Sans"/>
                </a:defRPr>
              </a:pPr>
              <a:r>
                <a:rPr dirty="0"/>
                <a:t>Capital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9140000" y="4114800"/>
            <a:ext cx="3600" cy="2743200"/>
          </a:xfrm>
          <a:prstGeom prst="rect">
            <a:avLst/>
          </a:prstGeom>
          <a:solidFill>
            <a:srgbClr val="E8E7E4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0FF52641-DACC-960A-A2FC-863048995FBF}"/>
              </a:ext>
            </a:extLst>
          </p:cNvPr>
          <p:cNvGrpSpPr/>
          <p:nvPr/>
        </p:nvGrpSpPr>
        <p:grpSpPr>
          <a:xfrm>
            <a:off x="9474000" y="4404800"/>
            <a:ext cx="2648000" cy="1000000"/>
            <a:chOff x="9474000" y="4404800"/>
            <a:chExt cx="2648000" cy="1000000"/>
          </a:xfrm>
        </p:grpSpPr>
        <p:sp>
          <p:nvSpPr>
            <p:cNvPr id="18" name="TextBox 17"/>
            <p:cNvSpPr txBox="1"/>
            <p:nvPr/>
          </p:nvSpPr>
          <p:spPr>
            <a:xfrm>
              <a:off x="9474000" y="4404800"/>
              <a:ext cx="2648000" cy="4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3000" b="0" i="0">
                  <a:solidFill>
                    <a:srgbClr val="002654"/>
                  </a:solidFill>
                  <a:latin typeface="Bebas Neue"/>
                </a:defRPr>
              </a:pPr>
              <a:r>
                <a:rPr dirty="0"/>
                <a:t>132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9474000" y="4784800"/>
              <a:ext cx="264800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800" b="0" i="0">
                  <a:solidFill>
                    <a:srgbClr val="CE1126"/>
                  </a:solidFill>
                  <a:latin typeface="DM Sans"/>
                </a:defRPr>
              </a:pPr>
              <a:r>
                <a:t>MUSEUMS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9474000" y="5004800"/>
              <a:ext cx="2648000" cy="4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lnSpc>
                  <a:spcPct val="120000"/>
                </a:lnSpc>
                <a:defRPr sz="800" b="0" i="0">
                  <a:solidFill>
                    <a:srgbClr val="778899"/>
                  </a:solidFill>
                  <a:latin typeface="DM Sans"/>
                </a:defRPr>
              </a:pPr>
              <a:r>
                <a:rPr dirty="0">
                  <a:solidFill>
                    <a:srgbClr val="667788"/>
                  </a:solidFill>
                </a:rPr>
                <a:t>City of</a:t>
              </a:r>
            </a:p>
            <a:p>
              <a:pPr algn="l">
                <a:lnSpc>
                  <a:spcPct val="120000"/>
                </a:lnSpc>
                <a:defRPr sz="800" b="0" i="0">
                  <a:solidFill>
                    <a:srgbClr val="778899"/>
                  </a:solidFill>
                  <a:latin typeface="DM Sans"/>
                </a:defRPr>
              </a:pPr>
              <a:r>
                <a:rPr dirty="0">
                  <a:solidFill>
                    <a:srgbClr val="667788"/>
                  </a:solidFill>
                </a:rPr>
                <a:t>Light · Art</a:t>
              </a:r>
            </a:p>
          </p:txBody>
        </p:sp>
      </p:grp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1042372-B78D-C191-7EF8-3472551C1295}"/>
              </a:ext>
            </a:extLst>
          </p:cNvPr>
          <p:cNvSpPr/>
          <p:nvPr/>
        </p:nvSpPr>
        <p:spPr>
          <a:xfrm>
            <a:off x="4000" y="2397760"/>
            <a:ext cx="12184000" cy="1721681"/>
          </a:xfrm>
          <a:prstGeom prst="rect">
            <a:avLst/>
          </a:prstGeom>
          <a:gradFill>
            <a:gsLst>
              <a:gs pos="87000">
                <a:schemeClr val="bg1">
                  <a:alpha val="25000"/>
                </a:schemeClr>
              </a:gs>
              <a:gs pos="69000">
                <a:schemeClr val="bg1">
                  <a:alpha val="50000"/>
                </a:schemeClr>
              </a:gs>
              <a:gs pos="0">
                <a:schemeClr val="bg1"/>
              </a:gs>
              <a:gs pos="59000">
                <a:srgbClr val="FFFFFF">
                  <a:alpha val="50000"/>
                </a:srgbClr>
              </a:gs>
              <a:gs pos="32000">
                <a:srgbClr val="FFFFFF">
                  <a:alpha val="75000"/>
                </a:srgbClr>
              </a:gs>
              <a:gs pos="100000">
                <a:schemeClr val="bg1">
                  <a:alpha val="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8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8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8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8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8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8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8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8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8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6" presetClass="emp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1" dur="1600" fill="hold"/>
                                        <p:tgtEl>
                                          <p:spTgt spid="3074"/>
                                        </p:tgtEl>
                                      </p:cBhvr>
                                      <p:by x="95000" y="9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Le 14 juillet, la Fête Nationale Française - Bastille Day">
            <a:extLst>
              <a:ext uri="{FF2B5EF4-FFF2-40B4-BE49-F238E27FC236}">
                <a16:creationId xmlns:a16="http://schemas.microsoft.com/office/drawing/2014/main" id="{AE412203-09BD-5045-D0A3-66C8511E3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830" y="-388950"/>
            <a:ext cx="7200740" cy="4050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-162042" y="-30480"/>
            <a:ext cx="5656442" cy="7051040"/>
          </a:xfrm>
          <a:prstGeom prst="rect">
            <a:avLst/>
          </a:prstGeom>
          <a:solidFill>
            <a:srgbClr val="002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31D282C-BD95-BB05-9CB2-917942122DC9}"/>
              </a:ext>
            </a:extLst>
          </p:cNvPr>
          <p:cNvSpPr txBox="1"/>
          <p:nvPr/>
        </p:nvSpPr>
        <p:spPr>
          <a:xfrm>
            <a:off x="4782313" y="4400000"/>
            <a:ext cx="1313687" cy="28469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15000" b="0" i="0">
                <a:solidFill>
                  <a:srgbClr val="002E5C"/>
                </a:solidFill>
                <a:latin typeface="Bebas Neue"/>
              </a:defRPr>
            </a:pPr>
            <a:r>
              <a:rPr lang="en-US" sz="24000" dirty="0"/>
              <a:t>F</a:t>
            </a:r>
            <a:endParaRPr sz="24000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9FD3696-BF88-204A-763C-08EE5E657D99}"/>
              </a:ext>
            </a:extLst>
          </p:cNvPr>
          <p:cNvSpPr/>
          <p:nvPr/>
        </p:nvSpPr>
        <p:spPr>
          <a:xfrm>
            <a:off x="5486400" y="3429001"/>
            <a:ext cx="6705600" cy="333894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470000" y="1800000"/>
            <a:ext cx="46864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800" b="1" i="0">
                <a:solidFill>
                  <a:srgbClr val="CE1126"/>
                </a:solidFill>
                <a:latin typeface="DM Sans"/>
              </a:defRPr>
            </a:pPr>
            <a:r>
              <a:rPr dirty="0"/>
              <a:t>CULTURAL TRADITION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000" y="2100000"/>
            <a:ext cx="4786400" cy="2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70000"/>
              </a:lnSpc>
              <a:defRPr sz="6000" b="0" i="0">
                <a:solidFill>
                  <a:srgbClr val="FFFFFF"/>
                </a:solidFill>
                <a:latin typeface="Bebas Neue"/>
              </a:defRPr>
            </a:pPr>
            <a:r>
              <a:rPr b="1" dirty="0"/>
              <a:t>LA</a:t>
            </a:r>
          </a:p>
          <a:p>
            <a:pPr algn="l">
              <a:lnSpc>
                <a:spcPct val="70000"/>
              </a:lnSpc>
              <a:defRPr sz="6000" b="0" i="0">
                <a:solidFill>
                  <a:srgbClr val="FFFFFF"/>
                </a:solidFill>
                <a:latin typeface="Bebas Neue"/>
              </a:defRPr>
            </a:pPr>
            <a:r>
              <a:rPr b="1" dirty="0"/>
              <a:t>FÊTE</a:t>
            </a:r>
          </a:p>
          <a:p>
            <a:pPr algn="l">
              <a:lnSpc>
                <a:spcPct val="70000"/>
              </a:lnSpc>
              <a:defRPr sz="6000" b="0" i="0">
                <a:solidFill>
                  <a:srgbClr val="FFFFFF"/>
                </a:solidFill>
                <a:latin typeface="Bebas Neue"/>
              </a:defRPr>
            </a:pPr>
            <a:r>
              <a:rPr b="1" dirty="0"/>
              <a:t>NATIO-</a:t>
            </a:r>
          </a:p>
          <a:p>
            <a:pPr algn="l">
              <a:lnSpc>
                <a:spcPct val="70000"/>
              </a:lnSpc>
              <a:defRPr sz="6000" b="0" i="0">
                <a:solidFill>
                  <a:srgbClr val="FFFFFF"/>
                </a:solidFill>
                <a:latin typeface="Bebas Neue"/>
              </a:defRPr>
            </a:pPr>
            <a:r>
              <a:rPr b="1" dirty="0"/>
              <a:t>NALE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E163361F-EB24-B7C3-6FCE-81ECFADAB67A}"/>
              </a:ext>
            </a:extLst>
          </p:cNvPr>
          <p:cNvGrpSpPr/>
          <p:nvPr/>
        </p:nvGrpSpPr>
        <p:grpSpPr>
          <a:xfrm>
            <a:off x="470000" y="4800000"/>
            <a:ext cx="4776400" cy="890000"/>
            <a:chOff x="470000" y="4800000"/>
            <a:chExt cx="4776400" cy="890000"/>
          </a:xfrm>
        </p:grpSpPr>
        <p:sp>
          <p:nvSpPr>
            <p:cNvPr id="6" name="Rectangle 5"/>
            <p:cNvSpPr/>
            <p:nvPr/>
          </p:nvSpPr>
          <p:spPr>
            <a:xfrm>
              <a:off x="470000" y="4850000"/>
              <a:ext cx="220000" cy="8000"/>
            </a:xfrm>
            <a:prstGeom prst="rect">
              <a:avLst/>
            </a:prstGeom>
            <a:solidFill>
              <a:srgbClr val="CE112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60000" y="4800000"/>
              <a:ext cx="448640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800" b="0" i="0">
                  <a:solidFill>
                    <a:srgbClr val="667788"/>
                  </a:solidFill>
                  <a:latin typeface="DM Sans"/>
                </a:defRPr>
              </a:pPr>
              <a:r>
                <a:rPr dirty="0"/>
                <a:t>BASTILLE DAY · JULY 14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470000" y="5080000"/>
              <a:ext cx="220000" cy="8000"/>
            </a:xfrm>
            <a:prstGeom prst="rect">
              <a:avLst/>
            </a:prstGeom>
            <a:solidFill>
              <a:srgbClr val="CE112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60000" y="5030000"/>
              <a:ext cx="448640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800" b="0" i="0">
                  <a:solidFill>
                    <a:srgbClr val="667788"/>
                  </a:solidFill>
                  <a:latin typeface="DM Sans"/>
                </a:defRPr>
              </a:pPr>
              <a:r>
                <a:t>NATIONAL UNITY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70000" y="5310000"/>
              <a:ext cx="220000" cy="8000"/>
            </a:xfrm>
            <a:prstGeom prst="rect">
              <a:avLst/>
            </a:prstGeom>
            <a:solidFill>
              <a:srgbClr val="CE112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60000" y="5260000"/>
              <a:ext cx="448640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800" b="0" i="0">
                  <a:solidFill>
                    <a:srgbClr val="667788"/>
                  </a:solidFill>
                  <a:latin typeface="DM Sans"/>
                </a:defRPr>
              </a:pPr>
              <a:r>
                <a:t>1789 REVOLUTION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70000" y="5540000"/>
              <a:ext cx="220000" cy="8000"/>
            </a:xfrm>
            <a:prstGeom prst="rect">
              <a:avLst/>
            </a:prstGeom>
            <a:solidFill>
              <a:srgbClr val="CE112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60000" y="5490000"/>
              <a:ext cx="448640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800" b="0" i="0">
                  <a:solidFill>
                    <a:srgbClr val="667788"/>
                  </a:solidFill>
                  <a:latin typeface="DM Sans"/>
                </a:defRPr>
              </a:pPr>
              <a:r>
                <a:t>FIREWORKS · PARADE</a:t>
              </a:r>
            </a:p>
          </p:txBody>
        </p:sp>
      </p:grpSp>
      <p:sp>
        <p:nvSpPr>
          <p:cNvPr id="15" name="Rectangle 14"/>
          <p:cNvSpPr/>
          <p:nvPr/>
        </p:nvSpPr>
        <p:spPr>
          <a:xfrm>
            <a:off x="5486400" y="3429000"/>
            <a:ext cx="8000" cy="3429000"/>
          </a:xfrm>
          <a:prstGeom prst="rect">
            <a:avLst/>
          </a:prstGeom>
          <a:solidFill>
            <a:srgbClr val="EE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950B5945-38C8-FC6B-E34D-E875C0FB617D}"/>
              </a:ext>
            </a:extLst>
          </p:cNvPr>
          <p:cNvGrpSpPr/>
          <p:nvPr/>
        </p:nvGrpSpPr>
        <p:grpSpPr>
          <a:xfrm>
            <a:off x="5776400" y="3679000"/>
            <a:ext cx="2852800" cy="950000"/>
            <a:chOff x="5776400" y="3679000"/>
            <a:chExt cx="2852800" cy="950000"/>
          </a:xfrm>
        </p:grpSpPr>
        <p:sp>
          <p:nvSpPr>
            <p:cNvPr id="16" name="TextBox 15"/>
            <p:cNvSpPr txBox="1"/>
            <p:nvPr/>
          </p:nvSpPr>
          <p:spPr>
            <a:xfrm>
              <a:off x="5776400" y="3679000"/>
              <a:ext cx="2852800" cy="5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4000" b="0" i="0">
                  <a:solidFill>
                    <a:srgbClr val="002654"/>
                  </a:solidFill>
                  <a:latin typeface="Bebas Neue"/>
                </a:defRPr>
              </a:pPr>
              <a:r>
                <a:rPr dirty="0"/>
                <a:t>1789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776400" y="4179000"/>
              <a:ext cx="285280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800" b="0" i="0">
                  <a:solidFill>
                    <a:srgbClr val="CE1126"/>
                  </a:solidFill>
                  <a:latin typeface="DM Sans"/>
                </a:defRPr>
              </a:pPr>
              <a:r>
                <a:rPr dirty="0"/>
                <a:t>FOUNDED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776400" y="4429000"/>
              <a:ext cx="285280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800" b="0" i="0">
                  <a:solidFill>
                    <a:srgbClr val="99AABB"/>
                  </a:solidFill>
                  <a:latin typeface="DM Sans"/>
                </a:defRPr>
              </a:pPr>
              <a:r>
                <a:rPr dirty="0"/>
                <a:t>FRENCH REVOLUTION</a:t>
              </a:r>
            </a:p>
          </p:txBody>
        </p:sp>
      </p:grpSp>
      <p:sp>
        <p:nvSpPr>
          <p:cNvPr id="19" name="Rectangle 18"/>
          <p:cNvSpPr/>
          <p:nvPr/>
        </p:nvSpPr>
        <p:spPr>
          <a:xfrm>
            <a:off x="8839200" y="3429000"/>
            <a:ext cx="0" cy="3429000"/>
          </a:xfrm>
          <a:prstGeom prst="rect">
            <a:avLst/>
          </a:prstGeom>
          <a:solidFill>
            <a:srgbClr val="EE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F67A7E40-2FDD-E6A1-9EA8-9F2DBB4E132F}"/>
              </a:ext>
            </a:extLst>
          </p:cNvPr>
          <p:cNvGrpSpPr/>
          <p:nvPr/>
        </p:nvGrpSpPr>
        <p:grpSpPr>
          <a:xfrm>
            <a:off x="9129200" y="3679000"/>
            <a:ext cx="2852800" cy="950000"/>
            <a:chOff x="9129200" y="3679000"/>
            <a:chExt cx="2852800" cy="950000"/>
          </a:xfrm>
        </p:grpSpPr>
        <p:sp>
          <p:nvSpPr>
            <p:cNvPr id="20" name="TextBox 19"/>
            <p:cNvSpPr txBox="1"/>
            <p:nvPr/>
          </p:nvSpPr>
          <p:spPr>
            <a:xfrm>
              <a:off x="9129200" y="3679000"/>
              <a:ext cx="2852800" cy="5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4000" b="0" i="0">
                  <a:solidFill>
                    <a:srgbClr val="002654"/>
                  </a:solidFill>
                  <a:latin typeface="Bebas Neue"/>
                </a:defRPr>
              </a:pPr>
              <a:r>
                <a:rPr dirty="0"/>
                <a:t>233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9129200" y="4179000"/>
              <a:ext cx="285280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800" b="0" i="0">
                  <a:solidFill>
                    <a:srgbClr val="CE1126"/>
                  </a:solidFill>
                  <a:latin typeface="DM Sans"/>
                </a:defRPr>
              </a:pPr>
              <a:r>
                <a:t>YEARS OLD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9129200" y="4429000"/>
              <a:ext cx="285280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800" b="0" i="0">
                  <a:solidFill>
                    <a:srgbClr val="99AABB"/>
                  </a:solidFill>
                  <a:latin typeface="DM Sans"/>
                </a:defRPr>
              </a:pPr>
              <a:r>
                <a:t>LIVING TRADITION</a:t>
              </a:r>
            </a:p>
          </p:txBody>
        </p:sp>
      </p:grpSp>
      <p:sp>
        <p:nvSpPr>
          <p:cNvPr id="25" name="Rectangle 17">
            <a:extLst>
              <a:ext uri="{FF2B5EF4-FFF2-40B4-BE49-F238E27FC236}">
                <a16:creationId xmlns:a16="http://schemas.microsoft.com/office/drawing/2014/main" id="{C2EAC0E2-BAD7-6A65-EF94-6D613DBA7C55}"/>
              </a:ext>
            </a:extLst>
          </p:cNvPr>
          <p:cNvSpPr/>
          <p:nvPr/>
        </p:nvSpPr>
        <p:spPr>
          <a:xfrm rot="16200000">
            <a:off x="6296000" y="5992200"/>
            <a:ext cx="5146000" cy="3600"/>
          </a:xfrm>
          <a:prstGeom prst="rect">
            <a:avLst/>
          </a:prstGeom>
          <a:solidFill>
            <a:srgbClr val="667788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1600" fill="hold"/>
                                        <p:tgtEl>
                                          <p:spTgt spid="2050"/>
                                        </p:tgtEl>
                                      </p:cBhvr>
                                      <p:by x="95000" y="95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8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8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8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8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8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8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8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8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8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6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repes">
            <a:extLst>
              <a:ext uri="{FF2B5EF4-FFF2-40B4-BE49-F238E27FC236}">
                <a16:creationId xmlns:a16="http://schemas.microsoft.com/office/drawing/2014/main" id="{C7277512-E748-336E-37E1-FED4CFA2C7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2" t="10028" b="9041"/>
          <a:stretch>
            <a:fillRect/>
          </a:stretch>
        </p:blipFill>
        <p:spPr bwMode="auto">
          <a:xfrm>
            <a:off x="-249767" y="-214046"/>
            <a:ext cx="6484601" cy="7286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직사각형 29">
            <a:extLst>
              <a:ext uri="{FF2B5EF4-FFF2-40B4-BE49-F238E27FC236}">
                <a16:creationId xmlns:a16="http://schemas.microsoft.com/office/drawing/2014/main" id="{268B351F-7739-A202-EDC3-869A156E78FC}"/>
              </a:ext>
            </a:extLst>
          </p:cNvPr>
          <p:cNvSpPr/>
          <p:nvPr/>
        </p:nvSpPr>
        <p:spPr>
          <a:xfrm>
            <a:off x="6208127" y="-137204"/>
            <a:ext cx="6242953" cy="7247204"/>
          </a:xfrm>
          <a:prstGeom prst="rect">
            <a:avLst/>
          </a:prstGeom>
          <a:solidFill>
            <a:srgbClr val="00265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0DDAA4CB-781C-9674-29F0-A43D6797B765}"/>
              </a:ext>
            </a:extLst>
          </p:cNvPr>
          <p:cNvGrpSpPr/>
          <p:nvPr/>
        </p:nvGrpSpPr>
        <p:grpSpPr>
          <a:xfrm>
            <a:off x="276660" y="330000"/>
            <a:ext cx="1590000" cy="284520"/>
            <a:chOff x="276660" y="330000"/>
            <a:chExt cx="1590000" cy="284520"/>
          </a:xfrm>
        </p:grpSpPr>
        <p:sp>
          <p:nvSpPr>
            <p:cNvPr id="3" name="Rectangle 2"/>
            <p:cNvSpPr/>
            <p:nvPr/>
          </p:nvSpPr>
          <p:spPr>
            <a:xfrm>
              <a:off x="330000" y="330000"/>
              <a:ext cx="1453080" cy="240000"/>
            </a:xfrm>
            <a:prstGeom prst="rect">
              <a:avLst/>
            </a:prstGeom>
            <a:solidFill>
              <a:srgbClr val="CE112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276660" y="414520"/>
              <a:ext cx="159000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ctr">
                <a:defRPr sz="700" b="1" i="0">
                  <a:solidFill>
                    <a:srgbClr val="FFFFFF"/>
                  </a:solidFill>
                  <a:latin typeface="DM Sans"/>
                </a:defRPr>
              </a:pPr>
              <a:r>
                <a:rPr sz="600" spc="300" dirty="0"/>
                <a:t>CUISINE · ORIGINS</a:t>
              </a:r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250000" y="6508000"/>
            <a:ext cx="25000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700" b="0" i="0">
                <a:solidFill>
                  <a:srgbClr val="667788"/>
                </a:solidFill>
                <a:latin typeface="DM Sans"/>
              </a:defRPr>
            </a:pPr>
            <a:r>
              <a:t>ICONIC PARISIAN FOOD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96172" y="5110000"/>
            <a:ext cx="2200000" cy="20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defRPr sz="16000" b="0" i="0">
                <a:solidFill>
                  <a:srgbClr val="002A58"/>
                </a:solidFill>
                <a:latin typeface="Bebas Neue"/>
              </a:defRPr>
            </a:pPr>
            <a:r>
              <a:rPr dirty="0"/>
              <a:t>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49728" y="1778935"/>
            <a:ext cx="52960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defRPr sz="800" b="1" i="0">
                <a:solidFill>
                  <a:srgbClr val="CE1126"/>
                </a:solidFill>
                <a:latin typeface="DM Sans"/>
              </a:defRPr>
            </a:pPr>
            <a:r>
              <a:rPr spc="300" dirty="0"/>
              <a:t>FOOD &amp; CULTURE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08127" y="2278804"/>
            <a:ext cx="5396000" cy="538131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70000"/>
              </a:lnSpc>
              <a:defRPr sz="7200" b="0" i="0">
                <a:solidFill>
                  <a:srgbClr val="FFFFFF"/>
                </a:solidFill>
                <a:latin typeface="Bebas Neue"/>
              </a:defRPr>
            </a:pPr>
            <a:r>
              <a:rPr lang="en-US" b="1" dirty="0" err="1"/>
              <a:t>cr</a:t>
            </a:r>
            <a:r>
              <a:rPr lang="en-US" altLang="ko-KR" b="1" dirty="0" err="1"/>
              <a:t>Ê</a:t>
            </a:r>
            <a:r>
              <a:rPr lang="en-US" b="1" dirty="0" err="1"/>
              <a:t>pe</a:t>
            </a:r>
            <a:endParaRPr lang="en-US" b="1" dirty="0"/>
          </a:p>
        </p:txBody>
      </p:sp>
      <p:sp>
        <p:nvSpPr>
          <p:cNvPr id="9" name="Rectangle 8"/>
          <p:cNvSpPr/>
          <p:nvPr/>
        </p:nvSpPr>
        <p:spPr>
          <a:xfrm>
            <a:off x="6566000" y="3118302"/>
            <a:ext cx="440000" cy="2400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566000" y="4833160"/>
            <a:ext cx="5146000" cy="3600"/>
          </a:xfrm>
          <a:prstGeom prst="rect">
            <a:avLst/>
          </a:prstGeom>
          <a:solidFill>
            <a:srgbClr val="667788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4CAE62A5-CA22-22F6-58A9-F3CC8DE6DA71}"/>
              </a:ext>
            </a:extLst>
          </p:cNvPr>
          <p:cNvGrpSpPr/>
          <p:nvPr/>
        </p:nvGrpSpPr>
        <p:grpSpPr>
          <a:xfrm>
            <a:off x="6566000" y="5033160"/>
            <a:ext cx="5246000" cy="600000"/>
            <a:chOff x="6566000" y="5033160"/>
            <a:chExt cx="5246000" cy="600000"/>
          </a:xfrm>
        </p:grpSpPr>
        <p:sp>
          <p:nvSpPr>
            <p:cNvPr id="19" name="TextBox 18"/>
            <p:cNvSpPr txBox="1"/>
            <p:nvPr/>
          </p:nvSpPr>
          <p:spPr>
            <a:xfrm>
              <a:off x="6566000" y="5033160"/>
              <a:ext cx="2473000" cy="4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3000" b="0" i="0">
                  <a:solidFill>
                    <a:srgbClr val="FFFFFF"/>
                  </a:solidFill>
                  <a:latin typeface="Bebas Neue"/>
                </a:defRPr>
              </a:pPr>
              <a:r>
                <a:rPr lang="en-US" dirty="0"/>
                <a:t>1</a:t>
              </a:r>
              <a:r>
                <a:rPr dirty="0"/>
                <a:t>B+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578192" y="5433160"/>
              <a:ext cx="247300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700" b="0" i="0">
                  <a:solidFill>
                    <a:srgbClr val="556677"/>
                  </a:solidFill>
                  <a:latin typeface="DM Sans"/>
                </a:defRPr>
              </a:pPr>
              <a:r>
                <a:rPr lang="en-US" sz="600" spc="300" dirty="0"/>
                <a:t>EATEN PER YEAR IN FRANCE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9339000" y="5033160"/>
              <a:ext cx="2473000" cy="4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3000" b="0" i="0">
                  <a:solidFill>
                    <a:srgbClr val="FFFFFF"/>
                  </a:solidFill>
                  <a:latin typeface="Bebas Neue"/>
                </a:defRPr>
              </a:pPr>
              <a:r>
                <a:rPr lang="en-US" dirty="0"/>
                <a:t>800+</a:t>
              </a:r>
              <a:endParaRPr dirty="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9339000" y="5433160"/>
              <a:ext cx="247300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700" b="0" i="0">
                  <a:solidFill>
                    <a:srgbClr val="556677"/>
                  </a:solidFill>
                  <a:latin typeface="DM Sans"/>
                </a:defRPr>
              </a:pPr>
              <a:r>
                <a:rPr lang="en-US" sz="600" spc="300" dirty="0"/>
                <a:t>YEARS OF HISTORY</a:t>
              </a:r>
              <a:endParaRPr sz="600" spc="300" dirty="0"/>
            </a:p>
          </p:txBody>
        </p:sp>
      </p:grpSp>
      <p:sp>
        <p:nvSpPr>
          <p:cNvPr id="24" name="Rectangle 7">
            <a:extLst>
              <a:ext uri="{FF2B5EF4-FFF2-40B4-BE49-F238E27FC236}">
                <a16:creationId xmlns:a16="http://schemas.microsoft.com/office/drawing/2014/main" id="{5377EC7F-BDF5-59D7-278A-83DF2617B4DB}"/>
              </a:ext>
            </a:extLst>
          </p:cNvPr>
          <p:cNvSpPr/>
          <p:nvPr/>
        </p:nvSpPr>
        <p:spPr>
          <a:xfrm rot="5400000" flipV="1">
            <a:off x="8961537" y="5293509"/>
            <a:ext cx="475982" cy="3600"/>
          </a:xfrm>
          <a:prstGeom prst="rect">
            <a:avLst/>
          </a:prstGeom>
          <a:solidFill>
            <a:srgbClr val="667788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15">
            <a:extLst>
              <a:ext uri="{FF2B5EF4-FFF2-40B4-BE49-F238E27FC236}">
                <a16:creationId xmlns:a16="http://schemas.microsoft.com/office/drawing/2014/main" id="{C6EFDB90-A16E-CF61-9098-DC93A4011084}"/>
              </a:ext>
            </a:extLst>
          </p:cNvPr>
          <p:cNvSpPr/>
          <p:nvPr/>
        </p:nvSpPr>
        <p:spPr>
          <a:xfrm rot="10800000">
            <a:off x="2896941" y="0"/>
            <a:ext cx="3326425" cy="7072046"/>
          </a:xfrm>
          <a:prstGeom prst="rect">
            <a:avLst/>
          </a:prstGeom>
          <a:gradFill flip="none" rotWithShape="1">
            <a:gsLst>
              <a:gs pos="77000">
                <a:srgbClr val="6086BE">
                  <a:alpha val="50000"/>
                </a:srgbClr>
              </a:gs>
              <a:gs pos="9088">
                <a:srgbClr val="082E5E"/>
              </a:gs>
              <a:gs pos="20988">
                <a:srgbClr val="13396A"/>
              </a:gs>
              <a:gs pos="53000">
                <a:srgbClr val="31578B">
                  <a:alpha val="75000"/>
                </a:srgbClr>
              </a:gs>
              <a:gs pos="0">
                <a:srgbClr val="002654"/>
              </a:gs>
              <a:gs pos="100000">
                <a:schemeClr val="accent1">
                  <a:tint val="50000"/>
                  <a:shade val="100000"/>
                  <a:satMod val="350000"/>
                  <a:alpha val="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9FE2BEE6-BDF0-B41B-606B-B59B49CE4C5B}"/>
              </a:ext>
            </a:extLst>
          </p:cNvPr>
          <p:cNvGrpSpPr/>
          <p:nvPr/>
        </p:nvGrpSpPr>
        <p:grpSpPr>
          <a:xfrm>
            <a:off x="6460509" y="3343645"/>
            <a:ext cx="5281491" cy="1083515"/>
            <a:chOff x="6460509" y="3343645"/>
            <a:chExt cx="5281491" cy="1083515"/>
          </a:xfrm>
        </p:grpSpPr>
        <p:sp>
          <p:nvSpPr>
            <p:cNvPr id="11" name="TextBox 10"/>
            <p:cNvSpPr txBox="1"/>
            <p:nvPr/>
          </p:nvSpPr>
          <p:spPr>
            <a:xfrm>
              <a:off x="7346000" y="3387160"/>
              <a:ext cx="439600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1000" b="0" i="0">
                  <a:solidFill>
                    <a:srgbClr val="CCCCCC"/>
                  </a:solidFill>
                  <a:latin typeface="DM Sans"/>
                </a:defRPr>
              </a:pPr>
              <a:r>
                <a:rPr lang="en-US" dirty="0"/>
                <a:t>BRITTANY, FRANCE </a:t>
              </a:r>
              <a:r>
                <a:rPr lang="en-US" altLang="ko-KR" dirty="0"/>
                <a:t>· 13</a:t>
              </a:r>
              <a:r>
                <a:rPr lang="en-US" altLang="ko-KR" baseline="30000" dirty="0"/>
                <a:t>TH</a:t>
              </a:r>
              <a:r>
                <a:rPr lang="en-US" altLang="ko-KR" dirty="0"/>
                <a:t> CENTURY</a:t>
              </a:r>
              <a:endParaRPr dirty="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346000" y="3667160"/>
              <a:ext cx="439600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1000" b="0" i="0">
                  <a:solidFill>
                    <a:srgbClr val="CCCCCC"/>
                  </a:solidFill>
                  <a:latin typeface="DM Sans"/>
                </a:defRPr>
              </a:pPr>
              <a:r>
                <a:rPr lang="en-US" dirty="0"/>
                <a:t>BUCKWEAT (GALETTE) </a:t>
              </a:r>
              <a:r>
                <a:rPr lang="en-US" altLang="ko-KR" dirty="0"/>
                <a:t>· WEAT FLOUR</a:t>
              </a:r>
              <a:endParaRPr dirty="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346000" y="3947160"/>
              <a:ext cx="439600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1000" b="0" i="0">
                  <a:solidFill>
                    <a:srgbClr val="CCCCCC"/>
                  </a:solidFill>
                  <a:latin typeface="DM Sans"/>
                </a:defRPr>
              </a:pPr>
              <a:r>
                <a:rPr lang="en-US" dirty="0"/>
                <a:t>SWEER (DESSERT) </a:t>
              </a:r>
              <a:r>
                <a:rPr lang="en-US" altLang="ko-KR" dirty="0"/>
                <a:t>· SAVORY (GALETTE)</a:t>
              </a:r>
              <a:endParaRPr dirty="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346000" y="4227160"/>
              <a:ext cx="4396000" cy="200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defRPr sz="1000" b="0" i="0">
                  <a:solidFill>
                    <a:srgbClr val="CCCCCC"/>
                  </a:solidFill>
                  <a:latin typeface="DM Sans"/>
                </a:defRPr>
              </a:pPr>
              <a:r>
                <a:rPr lang="en-US" dirty="0"/>
                <a:t>LA CHANDELEUR </a:t>
              </a:r>
              <a:r>
                <a:rPr lang="en-US" altLang="ko-KR" dirty="0"/>
                <a:t>· FEB 2ND</a:t>
              </a:r>
              <a:endParaRPr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2F79879-E241-6524-20CE-4875A7B2E68F}"/>
                </a:ext>
              </a:extLst>
            </p:cNvPr>
            <p:cNvSpPr txBox="1"/>
            <p:nvPr/>
          </p:nvSpPr>
          <p:spPr>
            <a:xfrm>
              <a:off x="6460509" y="3343645"/>
              <a:ext cx="112776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solidFill>
                    <a:srgbClr val="CE1126"/>
                  </a:solidFill>
                  <a:latin typeface="DM Sans" pitchFamily="2" charset="0"/>
                </a:rPr>
                <a:t>ORIGIN</a:t>
              </a:r>
              <a:endParaRPr lang="ko-KR" altLang="en-US" sz="700" dirty="0">
                <a:solidFill>
                  <a:srgbClr val="CE1126"/>
                </a:solidFill>
                <a:latin typeface="DM Sans" pitchFamily="2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945F75F-3727-005D-6D49-62F77BF470B4}"/>
                </a:ext>
              </a:extLst>
            </p:cNvPr>
            <p:cNvSpPr txBox="1"/>
            <p:nvPr/>
          </p:nvSpPr>
          <p:spPr>
            <a:xfrm>
              <a:off x="6460509" y="3635528"/>
              <a:ext cx="112776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solidFill>
                    <a:srgbClr val="CE1126"/>
                  </a:solidFill>
                  <a:latin typeface="DM Sans" pitchFamily="2" charset="0"/>
                </a:rPr>
                <a:t>BASE</a:t>
              </a:r>
              <a:endParaRPr lang="ko-KR" altLang="en-US" sz="700" dirty="0">
                <a:solidFill>
                  <a:srgbClr val="CE1126"/>
                </a:solidFill>
                <a:latin typeface="DM Sans" pitchFamily="2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B6B81E5-200A-7263-3091-6C738C570026}"/>
                </a:ext>
              </a:extLst>
            </p:cNvPr>
            <p:cNvSpPr txBox="1"/>
            <p:nvPr/>
          </p:nvSpPr>
          <p:spPr>
            <a:xfrm>
              <a:off x="6460509" y="3906757"/>
              <a:ext cx="112776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solidFill>
                    <a:srgbClr val="CE1126"/>
                  </a:solidFill>
                  <a:latin typeface="DM Sans" pitchFamily="2" charset="0"/>
                </a:rPr>
                <a:t>TYPES</a:t>
              </a:r>
              <a:endParaRPr lang="ko-KR" altLang="en-US" sz="700" dirty="0">
                <a:solidFill>
                  <a:srgbClr val="CE1126"/>
                </a:solidFill>
                <a:latin typeface="DM Sans" pitchFamily="2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A9C65A6-793C-DB98-86B3-658C2A43E7A1}"/>
                </a:ext>
              </a:extLst>
            </p:cNvPr>
            <p:cNvSpPr txBox="1"/>
            <p:nvPr/>
          </p:nvSpPr>
          <p:spPr>
            <a:xfrm>
              <a:off x="6460509" y="4186812"/>
              <a:ext cx="112776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solidFill>
                    <a:srgbClr val="CE1126"/>
                  </a:solidFill>
                  <a:latin typeface="DM Sans" pitchFamily="2" charset="0"/>
                </a:rPr>
                <a:t>SYMBOL</a:t>
              </a:r>
              <a:endParaRPr lang="ko-KR" altLang="en-US" sz="700" dirty="0">
                <a:solidFill>
                  <a:srgbClr val="CE1126"/>
                </a:solidFill>
                <a:latin typeface="DM Sans" pitchFamily="2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1600" fill="hold"/>
                                        <p:tgtEl>
                                          <p:spTgt spid="1026"/>
                                        </p:tgtEl>
                                      </p:cBhvr>
                                      <p:by x="95000" y="95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7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7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8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8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7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8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8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6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000" cy="685800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2156000" y="0"/>
            <a:ext cx="36000" cy="685800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30000" y="330000"/>
            <a:ext cx="260000" cy="260000"/>
          </a:xfrm>
          <a:prstGeom prst="rect">
            <a:avLst/>
          </a:prstGeom>
          <a:noFill/>
          <a:ln w="12700">
            <a:solidFill>
              <a:srgbClr val="224466"/>
            </a:solidFill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602000" y="330000"/>
            <a:ext cx="260000" cy="260000"/>
          </a:xfrm>
          <a:prstGeom prst="rect">
            <a:avLst/>
          </a:prstGeom>
          <a:noFill/>
          <a:ln w="1270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30000" y="6268000"/>
            <a:ext cx="260000" cy="260000"/>
          </a:xfrm>
          <a:prstGeom prst="rect">
            <a:avLst/>
          </a:prstGeom>
          <a:noFill/>
          <a:ln w="1270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602000" y="6268000"/>
            <a:ext cx="260000" cy="260000"/>
          </a:xfrm>
          <a:prstGeom prst="rect">
            <a:avLst/>
          </a:prstGeom>
          <a:noFill/>
          <a:ln w="1270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00000" y="1500000"/>
            <a:ext cx="9192000" cy="40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defRPr sz="28000" b="0" i="0">
                <a:solidFill>
                  <a:srgbClr val="002A58"/>
                </a:solidFill>
                <a:latin typeface="Bebas Neue"/>
              </a:defRPr>
            </a:pPr>
            <a:r>
              <a:rPr dirty="0"/>
              <a:t>MERCI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00000" y="1793600"/>
            <a:ext cx="8192000" cy="3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defRPr sz="800" b="1" i="0">
                <a:solidFill>
                  <a:srgbClr val="CE1126"/>
                </a:solidFill>
                <a:latin typeface="DM Sans"/>
              </a:defRPr>
            </a:pPr>
            <a:r>
              <a:rPr spc="300" dirty="0"/>
              <a:t>CULTURAL PRESENTATION · PARIS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00000" y="2254560"/>
            <a:ext cx="8192000" cy="20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lnSpc>
                <a:spcPct val="70000"/>
              </a:lnSpc>
              <a:defRPr sz="12000" b="0" i="0">
                <a:solidFill>
                  <a:srgbClr val="FFFFFF"/>
                </a:solidFill>
                <a:latin typeface="Bebas Neue"/>
              </a:defRPr>
            </a:pPr>
            <a:r>
              <a:rPr b="1" dirty="0"/>
              <a:t>THANK</a:t>
            </a:r>
          </a:p>
          <a:p>
            <a:pPr algn="ctr">
              <a:lnSpc>
                <a:spcPct val="70000"/>
              </a:lnSpc>
              <a:defRPr sz="12000" b="0" i="0">
                <a:solidFill>
                  <a:srgbClr val="FFFFFF"/>
                </a:solidFill>
                <a:latin typeface="Bebas Neue"/>
              </a:defRPr>
            </a:pPr>
            <a:r>
              <a:rPr b="1" dirty="0"/>
              <a:t>YOU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06000" y="4700000"/>
            <a:ext cx="580000" cy="2400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00000" y="4900000"/>
            <a:ext cx="8192000" cy="3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defRPr sz="800" b="0" i="0">
                <a:solidFill>
                  <a:srgbClr val="556677"/>
                </a:solidFill>
                <a:latin typeface="DM Sans"/>
              </a:defRPr>
            </a:pPr>
            <a:r>
              <a:rPr spc="600" dirty="0"/>
              <a:t>HERITAGE · ART · GASTRONOMY · FASHION · HISTORY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64000" y="6812000"/>
            <a:ext cx="4064000" cy="4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8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9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9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9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9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9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9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8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8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8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8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8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8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8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9" grpId="0"/>
      <p:bldP spid="11" grpId="0" animBg="1"/>
      <p:bldP spid="12" grpId="0"/>
      <p:bldP spid="1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</TotalTime>
  <Words>286</Words>
  <Application>Microsoft Office PowerPoint</Application>
  <PresentationFormat>와이드스크린</PresentationFormat>
  <Paragraphs>112</Paragraphs>
  <Slides>9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맑은 고딕</vt:lpstr>
      <vt:lpstr>Arial</vt:lpstr>
      <vt:lpstr>Calibri</vt:lpstr>
      <vt:lpstr>DM Sans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dohyung kim</cp:lastModifiedBy>
  <cp:revision>9</cp:revision>
  <dcterms:created xsi:type="dcterms:W3CDTF">2013-01-27T09:14:16Z</dcterms:created>
  <dcterms:modified xsi:type="dcterms:W3CDTF">2026-05-25T14:40:50Z</dcterms:modified>
  <cp:category/>
</cp:coreProperties>
</file>