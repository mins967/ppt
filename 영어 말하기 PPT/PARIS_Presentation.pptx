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654"/>
    <a:srgbClr val="667788"/>
    <a:srgbClr val="3A5168"/>
    <a:srgbClr val="CE1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41" autoAdjust="0"/>
  </p:normalViewPr>
  <p:slideViewPr>
    <p:cSldViewPr snapToGrid="0" snapToObjects="1">
      <p:cViewPr>
        <p:scale>
          <a:sx n="66" d="100"/>
          <a:sy n="66" d="100"/>
        </p:scale>
        <p:origin x="581" y="-3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EFF87-7F2D-4D49-858B-3838E1169F3F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49E90-FA26-40E0-9D84-D1D0A1B9E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757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9E90-FA26-40E0-9D84-D1D0A1B9E3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449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9E90-FA26-40E0-9D84-D1D0A1B9E3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583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56624" y="2270900"/>
            <a:ext cx="5839840" cy="2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4000" b="0" i="0">
                <a:solidFill>
                  <a:srgbClr val="FFFFFF"/>
                </a:solidFill>
                <a:latin typeface="Bebas Neue"/>
              </a:defRPr>
            </a:pPr>
            <a:r>
              <a:rPr sz="13000" b="1" dirty="0">
                <a:ln>
                  <a:solidFill>
                    <a:srgbClr val="667788"/>
                  </a:solidFill>
                </a:ln>
                <a:solidFill>
                  <a:srgbClr val="002654">
                    <a:alpha val="98000"/>
                  </a:srgbClr>
                </a:solidFill>
              </a:rPr>
              <a:t>PARIS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1AD1A1-AF78-7F81-8F4A-F5E1BD7B0DE0}"/>
              </a:ext>
            </a:extLst>
          </p:cNvPr>
          <p:cNvSpPr txBox="1"/>
          <p:nvPr/>
        </p:nvSpPr>
        <p:spPr>
          <a:xfrm>
            <a:off x="326624" y="2169472"/>
            <a:ext cx="5839840" cy="28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4000" b="0" i="0">
                <a:solidFill>
                  <a:srgbClr val="FFFFFF"/>
                </a:solidFill>
                <a:latin typeface="Bebas Neue"/>
              </a:defRPr>
            </a:pPr>
            <a:r>
              <a:rPr sz="13000" b="1" dirty="0"/>
              <a:t>PARIS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0000" y="200000"/>
            <a:ext cx="25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667788"/>
                </a:solidFill>
                <a:latin typeface="DM Sans"/>
              </a:defRPr>
            </a:pPr>
            <a:r>
              <a:t>CULTURAL PRESENTATION ·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856480" y="180000"/>
            <a:ext cx="1383360" cy="195473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28160" y="216822"/>
            <a:ext cx="126112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700" b="1" i="0">
                <a:solidFill>
                  <a:srgbClr val="FFFFFF"/>
                </a:solidFill>
                <a:latin typeface="DM Sans"/>
              </a:defRPr>
            </a:pPr>
            <a:r>
              <a:rPr sz="600" spc="300" dirty="0"/>
              <a:t>FRANCE · EUROPE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000" y="3887850"/>
            <a:ext cx="583984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667788"/>
                </a:solidFill>
                <a:latin typeface="DM Sans"/>
              </a:defRPr>
            </a:pPr>
            <a:r>
              <a:rPr sz="700" spc="300" dirty="0"/>
              <a:t>HERITAGE · ART · GASTRONOMY · FASHION ·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049849"/>
            <a:ext cx="6339840" cy="3600"/>
          </a:xfrm>
          <a:prstGeom prst="rect">
            <a:avLst/>
          </a:prstGeom>
          <a:solidFill>
            <a:srgbClr val="667788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0000" y="6079850"/>
            <a:ext cx="1913280" cy="3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2600" b="0" i="0">
                <a:solidFill>
                  <a:srgbClr val="FFFFFF"/>
                </a:solidFill>
                <a:latin typeface="Bebas Neue"/>
              </a:defRPr>
            </a:pPr>
            <a:r>
              <a:t>2,000+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000" y="6429850"/>
            <a:ext cx="191328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556677"/>
                </a:solidFill>
                <a:latin typeface="DM Sans"/>
              </a:defRPr>
            </a:pPr>
            <a:r>
              <a:rPr spc="300" dirty="0"/>
              <a:t>YEARS OF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3280" y="6079850"/>
            <a:ext cx="1913280" cy="3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2600" b="0" i="0">
                <a:solidFill>
                  <a:srgbClr val="FFFFFF"/>
                </a:solidFill>
                <a:latin typeface="Bebas Neue"/>
              </a:defRPr>
            </a:pPr>
            <a:r>
              <a:rPr dirty="0"/>
              <a:t>2.1M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3280" y="6429850"/>
            <a:ext cx="191328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556677"/>
                </a:solidFill>
                <a:latin typeface="DM Sans"/>
              </a:defRPr>
            </a:pPr>
            <a:r>
              <a:rPr spc="300" dirty="0"/>
              <a:t>CITY POPULATION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6560" y="6079850"/>
            <a:ext cx="1913280" cy="3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2600" b="0" i="0">
                <a:solidFill>
                  <a:srgbClr val="FFFFFF"/>
                </a:solidFill>
                <a:latin typeface="Bebas Neue"/>
              </a:defRPr>
            </a:pPr>
            <a:r>
              <a:t>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6560" y="6429850"/>
            <a:ext cx="191328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556677"/>
                </a:solidFill>
                <a:latin typeface="DM Sans"/>
              </a:defRPr>
            </a:pPr>
            <a:r>
              <a:rPr spc="300" dirty="0"/>
              <a:t>MOST VISITED 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2000"/>
            <a:ext cx="2113280" cy="46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26560" y="6812000"/>
            <a:ext cx="2113280" cy="46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0"/>
            <a:ext cx="5852160" cy="4457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9840" y="4107700"/>
            <a:ext cx="2000000" cy="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600" b="0" i="0">
                <a:solidFill>
                  <a:srgbClr val="FFFFFF"/>
                </a:solidFill>
                <a:latin typeface="Bebas Neue"/>
              </a:defRPr>
            </a:pPr>
            <a:r>
              <a:t>TOUR EIFFEL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8960" y="4147700"/>
            <a:ext cx="25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700" b="0" i="0">
                <a:solidFill>
                  <a:srgbClr val="99AABB"/>
                </a:solidFill>
                <a:latin typeface="DM Sans"/>
              </a:defRPr>
            </a:pPr>
            <a:r>
              <a:rPr spc="300" dirty="0"/>
              <a:t>CHAMP DE MARS · PARIS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9840" y="4457700"/>
            <a:ext cx="2926080" cy="2400300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5920" y="4457700"/>
            <a:ext cx="2926080" cy="2400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79840" y="6578000"/>
            <a:ext cx="20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AAAAAA"/>
                </a:solidFill>
                <a:latin typeface="DM Sans"/>
              </a:defRPr>
            </a:pPr>
            <a:r>
              <a:rPr spc="300" dirty="0"/>
              <a:t>SEINE · ÎLE DE LA CITÉ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5920" y="6578000"/>
            <a:ext cx="20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AAAAAA"/>
                </a:solidFill>
                <a:latin typeface="DM Sans"/>
              </a:defRPr>
            </a:pPr>
            <a:r>
              <a:rPr spc="300" dirty="0"/>
              <a:t>PARISIAN CUISINE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19840" y="200000"/>
            <a:ext cx="1600000" cy="200000"/>
          </a:xfrm>
          <a:prstGeom prst="rect">
            <a:avLst/>
          </a:prstGeom>
          <a:solidFill>
            <a:srgbClr val="00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19840" y="200000"/>
            <a:ext cx="20000" cy="200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40960" y="255000"/>
            <a:ext cx="1500000" cy="1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FFFFFF"/>
                </a:solidFill>
                <a:latin typeface="DM Sans"/>
              </a:defRPr>
            </a:pPr>
            <a:r>
              <a:rPr sz="600" spc="300" dirty="0"/>
              <a:t>CITY OF LIGHT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19840" y="450000"/>
            <a:ext cx="1600000" cy="200000"/>
          </a:xfrm>
          <a:prstGeom prst="rect">
            <a:avLst/>
          </a:prstGeom>
          <a:solidFill>
            <a:srgbClr val="00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19840" y="450000"/>
            <a:ext cx="20000" cy="200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51120" y="500400"/>
            <a:ext cx="1500000" cy="1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FFFFFF"/>
                </a:solidFill>
                <a:latin typeface="DM Sans"/>
              </a:defRPr>
            </a:pPr>
            <a:r>
              <a:rPr sz="600" spc="300" dirty="0"/>
              <a:t>CAPITAL OF FRANCE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19840" y="700000"/>
            <a:ext cx="1600000" cy="200000"/>
          </a:xfrm>
          <a:prstGeom prst="rect">
            <a:avLst/>
          </a:prstGeom>
          <a:solidFill>
            <a:srgbClr val="00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19840" y="700000"/>
            <a:ext cx="20000" cy="200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51120" y="759920"/>
            <a:ext cx="1500000" cy="1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FFFFFF"/>
                </a:solidFill>
                <a:latin typeface="DM Sans"/>
              </a:defRPr>
            </a:pPr>
            <a:r>
              <a:rPr sz="600" spc="300" dirty="0"/>
              <a:t>48°51′N · 2°21′E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6000" cy="685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7">
            <a:extLst>
              <a:ext uri="{FF2B5EF4-FFF2-40B4-BE49-F238E27FC236}">
                <a16:creationId xmlns:a16="http://schemas.microsoft.com/office/drawing/2014/main" id="{6C9CF6C2-D388-A6B7-301A-600FD56CA697}"/>
              </a:ext>
            </a:extLst>
          </p:cNvPr>
          <p:cNvSpPr/>
          <p:nvPr/>
        </p:nvSpPr>
        <p:spPr>
          <a:xfrm rot="5400000" flipV="1">
            <a:off x="1743104" y="6460026"/>
            <a:ext cx="812352" cy="3600"/>
          </a:xfrm>
          <a:prstGeom prst="rect">
            <a:avLst/>
          </a:prstGeom>
          <a:solidFill>
            <a:srgbClr val="667788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47480" y="6812000"/>
            <a:ext cx="2113280" cy="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403D89EF-FAE8-8E96-6F01-0AB6A93A4600}"/>
              </a:ext>
            </a:extLst>
          </p:cNvPr>
          <p:cNvSpPr/>
          <p:nvPr/>
        </p:nvSpPr>
        <p:spPr>
          <a:xfrm rot="5400000" flipV="1">
            <a:off x="3858184" y="6454226"/>
            <a:ext cx="812352" cy="3600"/>
          </a:xfrm>
          <a:prstGeom prst="rect">
            <a:avLst/>
          </a:prstGeom>
          <a:solidFill>
            <a:srgbClr val="667788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822000"/>
            <a:ext cx="12192000" cy="36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056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0000" y="6358000"/>
            <a:ext cx="1400000" cy="260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0960" y="6448400"/>
            <a:ext cx="1300000" cy="21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FFFFFF"/>
                </a:solidFill>
                <a:latin typeface="DM Sans"/>
              </a:defRPr>
            </a:pPr>
            <a:r>
              <a:rPr sz="700" spc="300" dirty="0"/>
              <a:t>ÎLE-DE-FRANCE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87828" y="-300000"/>
            <a:ext cx="2000000" cy="1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2000" b="0" i="0">
                <a:solidFill>
                  <a:srgbClr val="002E5C"/>
                </a:solidFill>
                <a:latin typeface="Bebas Neue"/>
              </a:defRPr>
            </a:pPr>
            <a:r>
              <a:rPr dirty="0"/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1360" y="1966072"/>
            <a:ext cx="45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dirty="0"/>
              <a:t>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5600" y="2243832"/>
            <a:ext cx="4586400" cy="1592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80000"/>
              </a:lnSpc>
              <a:defRPr sz="54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WHERE</a:t>
            </a:r>
            <a:endParaRPr lang="en-US" b="1" dirty="0"/>
          </a:p>
          <a:p>
            <a:pPr algn="l">
              <a:lnSpc>
                <a:spcPct val="80000"/>
              </a:lnSpc>
              <a:defRPr sz="54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IS IT?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5600" y="3600000"/>
            <a:ext cx="440000" cy="1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90840" y="3800000"/>
            <a:ext cx="43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000" b="0" i="0">
                <a:solidFill>
                  <a:srgbClr val="8899AA"/>
                </a:solidFill>
                <a:latin typeface="DM Sans"/>
              </a:defRPr>
            </a:pPr>
            <a:r>
              <a:rPr sz="900" dirty="0"/>
              <a:t>NORTH-CENTRAL FRANCE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0840" y="4030000"/>
            <a:ext cx="43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000" b="0" i="0">
                <a:solidFill>
                  <a:srgbClr val="8899AA"/>
                </a:solidFill>
                <a:latin typeface="DM Sans"/>
              </a:defRPr>
            </a:pPr>
            <a:r>
              <a:rPr sz="900" dirty="0"/>
              <a:t>SEINE RIVER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0840" y="4260000"/>
            <a:ext cx="43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000" b="0" i="0">
                <a:solidFill>
                  <a:srgbClr val="8899AA"/>
                </a:solidFill>
                <a:latin typeface="DM Sans"/>
              </a:defRPr>
            </a:pPr>
            <a:r>
              <a:rPr sz="900" dirty="0"/>
              <a:t>48°N · 2°E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0840" y="4490000"/>
            <a:ext cx="43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000" b="0" i="0">
                <a:solidFill>
                  <a:srgbClr val="8899AA"/>
                </a:solidFill>
                <a:latin typeface="DM Sans"/>
              </a:defRPr>
            </a:pPr>
            <a:r>
              <a:rPr sz="900" dirty="0"/>
              <a:t>CAPITAL 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5600" y="4720000"/>
            <a:ext cx="43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000" b="0" i="0">
                <a:solidFill>
                  <a:srgbClr val="8899AA"/>
                </a:solidFill>
                <a:latin typeface="DM Sans"/>
              </a:defRPr>
            </a:pPr>
            <a:r>
              <a:rPr sz="900" dirty="0"/>
              <a:t>WESTERN EUROPE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B7C300D3-70AE-136A-F444-D79A177CA3BC}"/>
              </a:ext>
            </a:extLst>
          </p:cNvPr>
          <p:cNvSpPr/>
          <p:nvPr/>
        </p:nvSpPr>
        <p:spPr>
          <a:xfrm>
            <a:off x="7160680" y="3856320"/>
            <a:ext cx="45719" cy="45719"/>
          </a:xfrm>
          <a:prstGeom prst="ellipse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3A80A3F-2E0D-107E-63DB-E44B52483370}"/>
              </a:ext>
            </a:extLst>
          </p:cNvPr>
          <p:cNvSpPr/>
          <p:nvPr/>
        </p:nvSpPr>
        <p:spPr>
          <a:xfrm>
            <a:off x="7155600" y="4087420"/>
            <a:ext cx="45719" cy="45719"/>
          </a:xfrm>
          <a:prstGeom prst="ellipse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92F548B-5A0F-9B5E-6386-A0B4E5679800}"/>
              </a:ext>
            </a:extLst>
          </p:cNvPr>
          <p:cNvSpPr/>
          <p:nvPr/>
        </p:nvSpPr>
        <p:spPr>
          <a:xfrm>
            <a:off x="7152740" y="4303960"/>
            <a:ext cx="45719" cy="45719"/>
          </a:xfrm>
          <a:prstGeom prst="ellipse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9079335-19AE-293D-E1F7-9ECF638EE221}"/>
              </a:ext>
            </a:extLst>
          </p:cNvPr>
          <p:cNvSpPr/>
          <p:nvPr/>
        </p:nvSpPr>
        <p:spPr>
          <a:xfrm>
            <a:off x="7152740" y="4544281"/>
            <a:ext cx="45719" cy="45719"/>
          </a:xfrm>
          <a:prstGeom prst="ellipse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41C9B6C-8FC7-296F-23ED-648165E44446}"/>
              </a:ext>
            </a:extLst>
          </p:cNvPr>
          <p:cNvSpPr/>
          <p:nvPr/>
        </p:nvSpPr>
        <p:spPr>
          <a:xfrm>
            <a:off x="7152739" y="4771920"/>
            <a:ext cx="45719" cy="45719"/>
          </a:xfrm>
          <a:prstGeom prst="ellipse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0000" y="330000"/>
            <a:ext cx="1100000" cy="240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0000" y="389520"/>
            <a:ext cx="1020000" cy="21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700" b="1" i="0">
                <a:solidFill>
                  <a:srgbClr val="FFFFFF"/>
                </a:solidFill>
                <a:latin typeface="DM Sans"/>
              </a:defRPr>
            </a:pPr>
            <a:r>
              <a:rPr spc="300" dirty="0"/>
              <a:t>WHY PARIS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0"/>
            <a:ext cx="7071360" cy="6858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590640" y="430000"/>
            <a:ext cx="617136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spc="300" dirty="0"/>
              <a:t>WHY I LOVE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90640" y="700000"/>
            <a:ext cx="6371360" cy="16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80000"/>
              </a:lnSpc>
              <a:defRPr sz="52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REASONS</a:t>
            </a:r>
          </a:p>
          <a:p>
            <a:pPr algn="l">
              <a:lnSpc>
                <a:spcPct val="80000"/>
              </a:lnSpc>
              <a:defRPr sz="52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TO LOVE</a:t>
            </a:r>
          </a:p>
          <a:p>
            <a:pPr algn="l">
              <a:lnSpc>
                <a:spcPct val="80000"/>
              </a:lnSpc>
              <a:defRPr sz="52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PARIS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590640" y="2656320"/>
            <a:ext cx="440000" cy="1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90640" y="2972760"/>
            <a:ext cx="400000" cy="3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2800" b="0" i="0">
                <a:solidFill>
                  <a:srgbClr val="CE1126"/>
                </a:solidFill>
                <a:latin typeface="Bebas Neue"/>
              </a:defRPr>
            </a:pPr>
            <a:r>
              <a:rPr lang="en-US" altLang="ko-KR" sz="2500" dirty="0"/>
              <a:t>01</a:t>
            </a:r>
            <a:endParaRPr sz="2500" dirty="0"/>
          </a:p>
        </p:txBody>
      </p:sp>
      <p:sp>
        <p:nvSpPr>
          <p:cNvPr id="10" name="TextBox 9"/>
          <p:cNvSpPr txBox="1"/>
          <p:nvPr/>
        </p:nvSpPr>
        <p:spPr>
          <a:xfrm>
            <a:off x="6040640" y="2988000"/>
            <a:ext cx="567136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2200" b="0" i="0">
                <a:solidFill>
                  <a:srgbClr val="FFFFFF"/>
                </a:solidFill>
                <a:latin typeface="Bebas Neue"/>
              </a:defRPr>
            </a:pPr>
            <a:r>
              <a:rPr sz="2000" dirty="0"/>
              <a:t>ART &amp;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0640" y="3308000"/>
            <a:ext cx="567136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667788"/>
                </a:solidFill>
                <a:latin typeface="DM Sans"/>
              </a:defRPr>
            </a:pPr>
            <a:r>
              <a:rPr sz="700" spc="300" dirty="0"/>
              <a:t>Louvre · Notre-Dame · Haussmann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90640" y="3585600"/>
            <a:ext cx="6121360" cy="3600"/>
          </a:xfrm>
          <a:prstGeom prst="rect">
            <a:avLst/>
          </a:prstGeom>
          <a:solidFill>
            <a:srgbClr val="66778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90640" y="3747640"/>
            <a:ext cx="400000" cy="3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2800" b="0" i="0">
                <a:solidFill>
                  <a:srgbClr val="CE1126"/>
                </a:solidFill>
                <a:latin typeface="Bebas Neue"/>
              </a:defRPr>
            </a:pPr>
            <a:r>
              <a:rPr sz="2500" dirty="0"/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0640" y="3762880"/>
            <a:ext cx="567136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2200" b="0" i="0">
                <a:solidFill>
                  <a:srgbClr val="FFFFFF"/>
                </a:solidFill>
                <a:latin typeface="Bebas Neue"/>
              </a:defRPr>
            </a:pPr>
            <a:r>
              <a:rPr sz="2000" dirty="0"/>
              <a:t>GASTRONOMY &amp; CAFÉ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0640" y="4082880"/>
            <a:ext cx="567136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667788"/>
                </a:solidFill>
                <a:latin typeface="DM Sans"/>
              </a:defRPr>
            </a:pPr>
            <a:r>
              <a:rPr sz="700" spc="300" dirty="0"/>
              <a:t>Bistros · Patisseries · Michelin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90640" y="4360240"/>
            <a:ext cx="6121360" cy="3600"/>
          </a:xfrm>
          <a:prstGeom prst="rect">
            <a:avLst/>
          </a:prstGeom>
          <a:solidFill>
            <a:srgbClr val="66778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90640" y="4532680"/>
            <a:ext cx="400000" cy="3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2800" b="0" i="0">
                <a:solidFill>
                  <a:srgbClr val="CE1126"/>
                </a:solidFill>
                <a:latin typeface="Bebas Neue"/>
              </a:defRPr>
            </a:pPr>
            <a:r>
              <a:rPr sz="2500" dirty="0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0640" y="4547920"/>
            <a:ext cx="567136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2200" b="0" i="0">
                <a:solidFill>
                  <a:srgbClr val="FFFFFF"/>
                </a:solidFill>
                <a:latin typeface="Bebas Neue"/>
              </a:defRPr>
            </a:pPr>
            <a:r>
              <a:rPr sz="2000" dirty="0"/>
              <a:t>FASHION &amp; STYLE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0640" y="4867920"/>
            <a:ext cx="567136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667788"/>
                </a:solidFill>
                <a:latin typeface="DM Sans"/>
              </a:defRPr>
            </a:pPr>
            <a:r>
              <a:rPr sz="700" spc="300" dirty="0"/>
              <a:t>Haute Couture · Chanel · Savoir-Faire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000" y="4658000"/>
            <a:ext cx="2500000" cy="2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20000" b="0" i="0">
                <a:solidFill>
                  <a:srgbClr val="002A58"/>
                </a:solidFill>
                <a:latin typeface="Bebas Neue"/>
              </a:defRPr>
            </a:pPr>
            <a:r>
              <a:t>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rcRect r="21808"/>
          <a:stretch>
            <a:fillRect/>
          </a:stretch>
        </p:blipFill>
        <p:spPr>
          <a:xfrm>
            <a:off x="5826000" y="-5787"/>
            <a:ext cx="6366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-150000" y="5158000"/>
            <a:ext cx="5000000" cy="17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0" b="0" i="0">
                <a:solidFill>
                  <a:srgbClr val="002E5C"/>
                </a:solidFill>
                <a:latin typeface="Bebas Neue"/>
              </a:defRPr>
            </a:pPr>
            <a:r>
              <a:rPr dirty="0"/>
              <a:t>1889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0000" y="1800000"/>
            <a:ext cx="52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spc="300" dirty="0"/>
              <a:t>HISTORICAL FUN 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000" y="2150000"/>
            <a:ext cx="5296000" cy="18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90000"/>
              </a:lnSpc>
              <a:defRPr sz="4400" b="0" i="1">
                <a:solidFill>
                  <a:srgbClr val="FFFFFF"/>
                </a:solidFill>
                <a:latin typeface="Playfair Display"/>
              </a:defRPr>
            </a:pPr>
            <a:r>
              <a:rPr b="1" dirty="0"/>
              <a:t>Built to</a:t>
            </a:r>
          </a:p>
          <a:p>
            <a:pPr algn="l">
              <a:lnSpc>
                <a:spcPct val="90000"/>
              </a:lnSpc>
              <a:defRPr sz="4400" b="0" i="1">
                <a:solidFill>
                  <a:srgbClr val="FFFFFF"/>
                </a:solidFill>
                <a:latin typeface="Playfair Display"/>
              </a:defRPr>
            </a:pPr>
            <a:r>
              <a:rPr b="1" dirty="0"/>
              <a:t>be torn</a:t>
            </a:r>
          </a:p>
          <a:p>
            <a:pPr algn="l">
              <a:lnSpc>
                <a:spcPct val="90000"/>
              </a:lnSpc>
              <a:defRPr sz="4400" b="0" i="1">
                <a:solidFill>
                  <a:srgbClr val="FFFFFF"/>
                </a:solidFill>
                <a:latin typeface="Playfair Display"/>
              </a:defRPr>
            </a:pPr>
            <a:r>
              <a:rPr b="1" dirty="0"/>
              <a:t>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0000" y="4200000"/>
            <a:ext cx="1084000" cy="240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000" y="4255560"/>
            <a:ext cx="1044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800" b="0" i="0">
                <a:solidFill>
                  <a:srgbClr val="FFFFFF"/>
                </a:solidFill>
                <a:latin typeface="DM Sans"/>
              </a:defRPr>
            </a:pPr>
            <a:r>
              <a:rPr dirty="0"/>
              <a:t>EIFFEL TOWER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664000" y="4200000"/>
            <a:ext cx="508000" cy="240000"/>
          </a:xfrm>
          <a:prstGeom prst="rect">
            <a:avLst/>
          </a:prstGeom>
          <a:noFill/>
          <a:ln w="9525">
            <a:solidFill>
              <a:srgbClr val="44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84000" y="4255560"/>
            <a:ext cx="468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800" b="0" i="0">
                <a:solidFill>
                  <a:srgbClr val="AABBCC"/>
                </a:solidFill>
                <a:latin typeface="DM Sans"/>
              </a:defRPr>
            </a:pPr>
            <a:r>
              <a:rPr dirty="0"/>
              <a:t>1889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2000" y="4200000"/>
            <a:ext cx="868000" cy="240000"/>
          </a:xfrm>
          <a:prstGeom prst="rect">
            <a:avLst/>
          </a:prstGeom>
          <a:noFill/>
          <a:ln w="9525">
            <a:solidFill>
              <a:srgbClr val="44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62000" y="4255560"/>
            <a:ext cx="828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800" b="0" i="0">
                <a:solidFill>
                  <a:srgbClr val="AABBCC"/>
                </a:solidFill>
                <a:latin typeface="DM Sans"/>
              </a:defRPr>
            </a:pPr>
            <a:r>
              <a:rPr dirty="0"/>
              <a:t>TEMPORARY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0000" y="4200000"/>
            <a:ext cx="940000" cy="240000"/>
          </a:xfrm>
          <a:prstGeom prst="rect">
            <a:avLst/>
          </a:prstGeom>
          <a:noFill/>
          <a:ln w="9525">
            <a:solidFill>
              <a:srgbClr val="44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000" y="4260640"/>
            <a:ext cx="9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800" b="0" i="0">
                <a:solidFill>
                  <a:srgbClr val="AABBCC"/>
                </a:solidFill>
                <a:latin typeface="DM Sans"/>
              </a:defRPr>
            </a:pPr>
            <a:r>
              <a:t>IRON GIANT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0000" y="4200000"/>
            <a:ext cx="868000" cy="240000"/>
          </a:xfrm>
          <a:prstGeom prst="rect">
            <a:avLst/>
          </a:prstGeom>
          <a:noFill/>
          <a:ln w="9525">
            <a:solidFill>
              <a:srgbClr val="44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10000" y="4270800"/>
            <a:ext cx="828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800" b="0" i="0">
                <a:solidFill>
                  <a:srgbClr val="AABBCC"/>
                </a:solidFill>
                <a:latin typeface="DM Sans"/>
              </a:defRPr>
            </a:pPr>
            <a:r>
              <a:rPr dirty="0"/>
              <a:t>300M TALL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13630" y="5558000"/>
            <a:ext cx="1456740" cy="900000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92000" y="5658000"/>
            <a:ext cx="1100000" cy="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4000" b="0" i="0">
                <a:solidFill>
                  <a:srgbClr val="FFFFFF"/>
                </a:solidFill>
                <a:latin typeface="Bebas Neue"/>
              </a:defRPr>
            </a:pPr>
            <a:r>
              <a:rPr dirty="0"/>
              <a:t>1889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9820" y="6208000"/>
            <a:ext cx="186436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700" b="0" i="0">
                <a:solidFill>
                  <a:srgbClr val="8899AA"/>
                </a:solidFill>
                <a:latin typeface="DM Sans"/>
              </a:defRPr>
            </a:pPr>
            <a:r>
              <a:rPr sz="600" kern="1400" dirty="0">
                <a:solidFill>
                  <a:schemeClr val="bg1"/>
                </a:solidFill>
              </a:rPr>
              <a:t>W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O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R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L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D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'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S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 F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A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I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R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 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·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 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P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A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R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I</a:t>
            </a:r>
            <a:r>
              <a:rPr lang="en-US" sz="600" kern="1400" dirty="0">
                <a:solidFill>
                  <a:schemeClr val="bg1"/>
                </a:solidFill>
              </a:rPr>
              <a:t> </a:t>
            </a:r>
            <a:r>
              <a:rPr sz="600" kern="1400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000" y="5787"/>
            <a:ext cx="3326425" cy="6858000"/>
          </a:xfrm>
          <a:prstGeom prst="rect">
            <a:avLst/>
          </a:prstGeom>
          <a:gradFill flip="none" rotWithShape="1">
            <a:gsLst>
              <a:gs pos="69000">
                <a:srgbClr val="6086BE">
                  <a:alpha val="50000"/>
                </a:srgbClr>
              </a:gs>
              <a:gs pos="32000">
                <a:srgbClr val="31578B">
                  <a:alpha val="75000"/>
                </a:srgbClr>
              </a:gs>
              <a:gs pos="0">
                <a:srgbClr val="002654"/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DBF216A1-6896-CE8A-21BB-70D95BCE5DDD}"/>
              </a:ext>
            </a:extLst>
          </p:cNvPr>
          <p:cNvSpPr/>
          <p:nvPr/>
        </p:nvSpPr>
        <p:spPr>
          <a:xfrm>
            <a:off x="-4000" y="4114800"/>
            <a:ext cx="12184000" cy="2748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t="21821" r="1740" b="52422"/>
          <a:stretch>
            <a:fillRect/>
          </a:stretch>
        </p:blipFill>
        <p:spPr>
          <a:xfrm>
            <a:off x="4000" y="-18301"/>
            <a:ext cx="12192001" cy="408680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72944" y="330000"/>
            <a:ext cx="1699696" cy="260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0000" y="404634"/>
            <a:ext cx="1520000" cy="23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800" b="1" i="0">
                <a:solidFill>
                  <a:srgbClr val="FFFFFF"/>
                </a:solidFill>
                <a:latin typeface="DM Sans"/>
              </a:defRPr>
            </a:pPr>
            <a:r>
              <a:rPr spc="300" dirty="0"/>
              <a:t>MODERN FUN 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12192000" cy="3600"/>
          </a:xfrm>
          <a:prstGeom prst="rect">
            <a:avLst/>
          </a:prstGeom>
          <a:solidFill>
            <a:srgbClr val="DDDCD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330000" y="4404800"/>
            <a:ext cx="2648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000" b="0" i="0">
                <a:solidFill>
                  <a:srgbClr val="002654"/>
                </a:solidFill>
                <a:latin typeface="Bebas Neue"/>
              </a:defRPr>
            </a:pPr>
            <a: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000" y="4784800"/>
            <a:ext cx="2648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CE1126"/>
                </a:solidFill>
                <a:latin typeface="DM Sans"/>
              </a:defRPr>
            </a:pPr>
            <a:r>
              <a:t>TOURISM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000" y="5004800"/>
            <a:ext cx="2648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defRPr sz="800" b="0" i="0">
                <a:solidFill>
                  <a:srgbClr val="778899"/>
                </a:solidFill>
                <a:latin typeface="DM Sans"/>
              </a:defRPr>
            </a:pPr>
            <a:r>
              <a:rPr dirty="0"/>
              <a:t>Most Visited</a:t>
            </a:r>
          </a:p>
          <a:p>
            <a:pPr algn="l">
              <a:lnSpc>
                <a:spcPct val="120000"/>
              </a:lnSpc>
              <a:defRPr sz="800" b="0" i="0">
                <a:solidFill>
                  <a:srgbClr val="778899"/>
                </a:solidFill>
                <a:latin typeface="DM Sans"/>
              </a:defRPr>
            </a:pPr>
            <a:r>
              <a:rPr dirty="0"/>
              <a:t>City · World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4000" y="4114800"/>
            <a:ext cx="3600" cy="2743200"/>
          </a:xfrm>
          <a:prstGeom prst="rect">
            <a:avLst/>
          </a:prstGeom>
          <a:solidFill>
            <a:srgbClr val="E8E7E4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78000" y="4404800"/>
            <a:ext cx="2648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000" b="0" i="0">
                <a:solidFill>
                  <a:srgbClr val="002654"/>
                </a:solidFill>
                <a:latin typeface="Bebas Neue"/>
              </a:defRPr>
            </a:pPr>
            <a:r>
              <a:rPr dirty="0"/>
              <a:t>100M+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8000" y="4784800"/>
            <a:ext cx="2648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CE1126"/>
                </a:solidFill>
                <a:latin typeface="DM Sans"/>
              </a:defRPr>
            </a:pPr>
            <a:r>
              <a:t>VISITORS /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8000" y="5004800"/>
            <a:ext cx="2648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defRPr sz="800" b="0" i="0">
                <a:solidFill>
                  <a:srgbClr val="778899"/>
                </a:solidFill>
                <a:latin typeface="DM Sans"/>
              </a:defRPr>
            </a:pPr>
            <a:r>
              <a:rPr dirty="0"/>
              <a:t>Pre-Pandemic</a:t>
            </a:r>
          </a:p>
          <a:p>
            <a:pPr algn="l">
              <a:lnSpc>
                <a:spcPct val="120000"/>
              </a:lnSpc>
              <a:defRPr sz="800" b="0" i="0">
                <a:solidFill>
                  <a:srgbClr val="778899"/>
                </a:solidFill>
                <a:latin typeface="DM Sans"/>
              </a:defRPr>
            </a:pPr>
            <a:r>
              <a:rPr dirty="0"/>
              <a:t>Record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2000" y="4114800"/>
            <a:ext cx="3600" cy="2743200"/>
          </a:xfrm>
          <a:prstGeom prst="rect">
            <a:avLst/>
          </a:prstGeom>
          <a:solidFill>
            <a:srgbClr val="E8E7E4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6000" y="4404800"/>
            <a:ext cx="2648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000" b="0" i="0">
                <a:solidFill>
                  <a:srgbClr val="002654"/>
                </a:solidFill>
                <a:latin typeface="Bebas Neue"/>
              </a:defRPr>
            </a:pPr>
            <a:r>
              <a:t>4,500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000" y="4784800"/>
            <a:ext cx="2648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CE1126"/>
                </a:solidFill>
                <a:latin typeface="DM Sans"/>
              </a:defRPr>
            </a:pPr>
            <a:r>
              <a:t>RESTAURANTS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6000" y="5004800"/>
            <a:ext cx="2648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defRPr sz="800" b="0" i="0">
                <a:solidFill>
                  <a:srgbClr val="778899"/>
                </a:solidFill>
                <a:latin typeface="DM Sans"/>
              </a:defRPr>
            </a:pPr>
            <a:r>
              <a:rPr dirty="0"/>
              <a:t>Michelin Star</a:t>
            </a:r>
          </a:p>
          <a:p>
            <a:pPr algn="l">
              <a:lnSpc>
                <a:spcPct val="120000"/>
              </a:lnSpc>
              <a:defRPr sz="800" b="0" i="0">
                <a:solidFill>
                  <a:srgbClr val="778899"/>
                </a:solidFill>
                <a:latin typeface="DM Sans"/>
              </a:defRPr>
            </a:pPr>
            <a:r>
              <a:rPr dirty="0"/>
              <a:t>Capital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0000" y="4114800"/>
            <a:ext cx="3600" cy="2743200"/>
          </a:xfrm>
          <a:prstGeom prst="rect">
            <a:avLst/>
          </a:prstGeom>
          <a:solidFill>
            <a:srgbClr val="E8E7E4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9474000" y="4404800"/>
            <a:ext cx="2648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000" b="0" i="0">
                <a:solidFill>
                  <a:srgbClr val="002654"/>
                </a:solidFill>
                <a:latin typeface="Bebas Neue"/>
              </a:defRPr>
            </a:pPr>
            <a:r>
              <a:t>132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4000" y="4784800"/>
            <a:ext cx="2648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CE1126"/>
                </a:solidFill>
                <a:latin typeface="DM Sans"/>
              </a:defRPr>
            </a:pPr>
            <a:r>
              <a:t>MUSEUMS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4000" y="5004800"/>
            <a:ext cx="2648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defRPr sz="800" b="0" i="0">
                <a:solidFill>
                  <a:srgbClr val="778899"/>
                </a:solidFill>
                <a:latin typeface="DM Sans"/>
              </a:defRPr>
            </a:pPr>
            <a:r>
              <a:rPr dirty="0">
                <a:solidFill>
                  <a:srgbClr val="667788"/>
                </a:solidFill>
              </a:rPr>
              <a:t>City of</a:t>
            </a:r>
          </a:p>
          <a:p>
            <a:pPr algn="l">
              <a:lnSpc>
                <a:spcPct val="120000"/>
              </a:lnSpc>
              <a:defRPr sz="800" b="0" i="0">
                <a:solidFill>
                  <a:srgbClr val="778899"/>
                </a:solidFill>
                <a:latin typeface="DM Sans"/>
              </a:defRPr>
            </a:pPr>
            <a:r>
              <a:rPr dirty="0">
                <a:solidFill>
                  <a:srgbClr val="667788"/>
                </a:solidFill>
              </a:rPr>
              <a:t>Light · Art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1042372-B78D-C191-7EF8-3472551C1295}"/>
              </a:ext>
            </a:extLst>
          </p:cNvPr>
          <p:cNvSpPr/>
          <p:nvPr/>
        </p:nvSpPr>
        <p:spPr>
          <a:xfrm>
            <a:off x="4000" y="2387600"/>
            <a:ext cx="12184000" cy="1721681"/>
          </a:xfrm>
          <a:prstGeom prst="rect">
            <a:avLst/>
          </a:prstGeom>
          <a:gradFill>
            <a:gsLst>
              <a:gs pos="87000">
                <a:schemeClr val="bg1">
                  <a:alpha val="25000"/>
                </a:schemeClr>
              </a:gs>
              <a:gs pos="69000">
                <a:schemeClr val="bg1">
                  <a:alpha val="50000"/>
                </a:schemeClr>
              </a:gs>
              <a:gs pos="0">
                <a:schemeClr val="bg1"/>
              </a:gs>
              <a:gs pos="59000">
                <a:srgbClr val="FFFFFF">
                  <a:alpha val="50000"/>
                </a:srgbClr>
              </a:gs>
              <a:gs pos="32000">
                <a:srgbClr val="FFFFFF">
                  <a:alpha val="75000"/>
                </a:srgbClr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62042" y="0"/>
            <a:ext cx="5656442" cy="6858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0000" y="1800000"/>
            <a:ext cx="46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t>CULTURAL TRADITION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000" y="2100000"/>
            <a:ext cx="4786400" cy="2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70000"/>
              </a:lnSpc>
              <a:defRPr sz="6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LA</a:t>
            </a:r>
          </a:p>
          <a:p>
            <a:pPr algn="l">
              <a:lnSpc>
                <a:spcPct val="70000"/>
              </a:lnSpc>
              <a:defRPr sz="6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FÊTE</a:t>
            </a:r>
          </a:p>
          <a:p>
            <a:pPr algn="l">
              <a:lnSpc>
                <a:spcPct val="70000"/>
              </a:lnSpc>
              <a:defRPr sz="6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NATIO-</a:t>
            </a:r>
          </a:p>
          <a:p>
            <a:pPr algn="l">
              <a:lnSpc>
                <a:spcPct val="70000"/>
              </a:lnSpc>
              <a:defRPr sz="6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000" y="4850000"/>
            <a:ext cx="220000" cy="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0000" y="4800000"/>
            <a:ext cx="44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667788"/>
                </a:solidFill>
                <a:latin typeface="DM Sans"/>
              </a:defRPr>
            </a:pPr>
            <a:r>
              <a:t>BASTILLE DAY · JULY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000" y="5080000"/>
            <a:ext cx="220000" cy="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0000" y="5030000"/>
            <a:ext cx="44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667788"/>
                </a:solidFill>
                <a:latin typeface="DM Sans"/>
              </a:defRPr>
            </a:pPr>
            <a:r>
              <a:t>NATIONAL 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000" y="5310000"/>
            <a:ext cx="220000" cy="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0000" y="5260000"/>
            <a:ext cx="44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667788"/>
                </a:solidFill>
                <a:latin typeface="DM Sans"/>
              </a:defRPr>
            </a:pPr>
            <a:r>
              <a:t>1789 REVOLUTION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000" y="5540000"/>
            <a:ext cx="220000" cy="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0000" y="5490000"/>
            <a:ext cx="44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667788"/>
                </a:solidFill>
                <a:latin typeface="DM Sans"/>
              </a:defRPr>
            </a:pPr>
            <a:r>
              <a:t>FIREWORKS · PARADE</a:t>
            </a:r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2"/>
          <a:srcRect t="5917" b="8722"/>
          <a:stretch>
            <a:fillRect/>
          </a:stretch>
        </p:blipFill>
        <p:spPr>
          <a:xfrm>
            <a:off x="5494400" y="0"/>
            <a:ext cx="6705600" cy="3421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486400" y="3429000"/>
            <a:ext cx="8000" cy="3429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76400" y="3679000"/>
            <a:ext cx="2852800" cy="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4000" b="0" i="0">
                <a:solidFill>
                  <a:srgbClr val="002654"/>
                </a:solidFill>
                <a:latin typeface="Bebas Neue"/>
              </a:defRPr>
            </a:pPr>
            <a:r>
              <a:t>1789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6400" y="4179000"/>
            <a:ext cx="28528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CE1126"/>
                </a:solidFill>
                <a:latin typeface="DM Sans"/>
              </a:defRPr>
            </a:pPr>
            <a:r>
              <a:rPr dirty="0"/>
              <a:t>FOUNDED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6400" y="4429000"/>
            <a:ext cx="28528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99AABB"/>
                </a:solidFill>
                <a:latin typeface="DM Sans"/>
              </a:defRPr>
            </a:pPr>
            <a:r>
              <a:t>FRENCH REVOLUTION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39200" y="3429000"/>
            <a:ext cx="0" cy="3429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9200" y="3679000"/>
            <a:ext cx="2852800" cy="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4000" b="0" i="0">
                <a:solidFill>
                  <a:srgbClr val="002654"/>
                </a:solidFill>
                <a:latin typeface="Bebas Neue"/>
              </a:defRPr>
            </a:pPr>
            <a:r>
              <a:t>233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9200" y="4179000"/>
            <a:ext cx="28528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CE1126"/>
                </a:solidFill>
                <a:latin typeface="DM Sans"/>
              </a:defRPr>
            </a:pPr>
            <a:r>
              <a:t>YEARS 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9200" y="4429000"/>
            <a:ext cx="28528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99AABB"/>
                </a:solidFill>
                <a:latin typeface="DM Sans"/>
              </a:defRPr>
            </a:pPr>
            <a:r>
              <a:t>LIVING TRADITION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1D282C-BD95-BB05-9CB2-917942122DC9}"/>
              </a:ext>
            </a:extLst>
          </p:cNvPr>
          <p:cNvSpPr txBox="1"/>
          <p:nvPr/>
        </p:nvSpPr>
        <p:spPr>
          <a:xfrm>
            <a:off x="4782313" y="4400000"/>
            <a:ext cx="5000000" cy="17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0" b="0" i="0">
                <a:solidFill>
                  <a:srgbClr val="002E5C"/>
                </a:solidFill>
                <a:latin typeface="Bebas Neue"/>
              </a:defRPr>
            </a:pPr>
            <a:r>
              <a:rPr lang="en-US" sz="24000" dirty="0"/>
              <a:t>F</a:t>
            </a:r>
            <a:endParaRPr sz="240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9FD3696-BF88-204A-763C-08EE5E657D99}"/>
              </a:ext>
            </a:extLst>
          </p:cNvPr>
          <p:cNvSpPr/>
          <p:nvPr/>
        </p:nvSpPr>
        <p:spPr>
          <a:xfrm>
            <a:off x="5486400" y="4800000"/>
            <a:ext cx="2216427" cy="19679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Rectangle 17">
            <a:extLst>
              <a:ext uri="{FF2B5EF4-FFF2-40B4-BE49-F238E27FC236}">
                <a16:creationId xmlns:a16="http://schemas.microsoft.com/office/drawing/2014/main" id="{C2EAC0E2-BAD7-6A65-EF94-6D613DBA7C55}"/>
              </a:ext>
            </a:extLst>
          </p:cNvPr>
          <p:cNvSpPr/>
          <p:nvPr/>
        </p:nvSpPr>
        <p:spPr>
          <a:xfrm rot="16200000">
            <a:off x="6296000" y="5992200"/>
            <a:ext cx="5146000" cy="3600"/>
          </a:xfrm>
          <a:prstGeom prst="rect">
            <a:avLst/>
          </a:prstGeom>
          <a:solidFill>
            <a:srgbClr val="66778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0000" y="330000"/>
            <a:ext cx="1453080" cy="240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6660" y="414520"/>
            <a:ext cx="159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700" b="1" i="0">
                <a:solidFill>
                  <a:srgbClr val="FFFFFF"/>
                </a:solidFill>
                <a:latin typeface="DM Sans"/>
              </a:defRPr>
            </a:pPr>
            <a:r>
              <a:rPr sz="600" spc="300" dirty="0"/>
              <a:t>CUISINE · ORIGINS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0000" y="6508000"/>
            <a:ext cx="25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667788"/>
                </a:solidFill>
                <a:latin typeface="DM Sans"/>
              </a:defRPr>
            </a:pPr>
            <a:r>
              <a:t>ICONIC PARISIAN FOOD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172" y="5110000"/>
            <a:ext cx="2200000" cy="20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6000" b="0" i="0">
                <a:solidFill>
                  <a:srgbClr val="002A58"/>
                </a:solidFill>
                <a:latin typeface="Bebas Neue"/>
              </a:defRPr>
            </a:pPr>
            <a:r>
              <a:rPr dirty="0"/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9728" y="1778935"/>
            <a:ext cx="52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spc="300" dirty="0"/>
              <a:t>FOOD &amp; 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8127" y="2278804"/>
            <a:ext cx="5396000" cy="1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70000"/>
              </a:lnSpc>
              <a:defRPr sz="7200" b="0" i="0">
                <a:solidFill>
                  <a:srgbClr val="FFFFFF"/>
                </a:solidFill>
                <a:latin typeface="Bebas Neue"/>
              </a:defRPr>
            </a:pPr>
            <a:r>
              <a:rPr lang="en-US" b="1" dirty="0" err="1"/>
              <a:t>cr</a:t>
            </a:r>
            <a:r>
              <a:rPr lang="en-US" altLang="ko-KR" b="1" dirty="0" err="1"/>
              <a:t>Ê</a:t>
            </a:r>
            <a:r>
              <a:rPr lang="en-US" b="1" dirty="0" err="1"/>
              <a:t>pe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6566000" y="3118302"/>
            <a:ext cx="440000" cy="24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6000" y="3387160"/>
            <a:ext cx="72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1" i="0">
                <a:solidFill>
                  <a:srgbClr val="CE1126"/>
                </a:solidFill>
                <a:latin typeface="DM Sans"/>
              </a:defRPr>
            </a:pPr>
            <a:r>
              <a:rPr dirty="0"/>
              <a:t>ORIGIN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46000" y="3387160"/>
            <a:ext cx="43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000" b="0" i="0">
                <a:solidFill>
                  <a:srgbClr val="CCCCCC"/>
                </a:solidFill>
                <a:latin typeface="DM Sans"/>
              </a:defRPr>
            </a:pPr>
            <a:r>
              <a:rPr dirty="0"/>
              <a:t>VIENNA, AUSTRIA · 1683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6000" y="3667160"/>
            <a:ext cx="72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1" i="0">
                <a:solidFill>
                  <a:srgbClr val="CE1126"/>
                </a:solidFill>
                <a:latin typeface="DM Sans"/>
              </a:defRPr>
            </a:pPr>
            <a:r>
              <a:t>ARRIVED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6000" y="3667160"/>
            <a:ext cx="43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000" b="0" i="0">
                <a:solidFill>
                  <a:srgbClr val="CCCCCC"/>
                </a:solidFill>
                <a:latin typeface="DM Sans"/>
              </a:defRPr>
            </a:pPr>
            <a:r>
              <a:t>PARIS · EARLY 1800S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6000" y="3947160"/>
            <a:ext cx="72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1" i="0">
                <a:solidFill>
                  <a:srgbClr val="CE1126"/>
                </a:solidFill>
                <a:latin typeface="DM Sans"/>
              </a:defRPr>
            </a:pPr>
            <a:r>
              <a:t>TECHNIQUE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6000" y="3947160"/>
            <a:ext cx="43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000" b="0" i="0">
                <a:solidFill>
                  <a:srgbClr val="CCCCCC"/>
                </a:solidFill>
                <a:latin typeface="DM Sans"/>
              </a:defRPr>
            </a:pPr>
            <a:r>
              <a:t>LAMINATED DOUGH · 27 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6000" y="4227160"/>
            <a:ext cx="72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1" i="0">
                <a:solidFill>
                  <a:srgbClr val="CE1126"/>
                </a:solidFill>
                <a:latin typeface="DM Sans"/>
              </a:defRPr>
            </a:pPr>
            <a:r>
              <a:t>SYMBOL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000" y="4227160"/>
            <a:ext cx="43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000" b="0" i="0">
                <a:solidFill>
                  <a:srgbClr val="CCCCCC"/>
                </a:solidFill>
                <a:latin typeface="DM Sans"/>
              </a:defRPr>
            </a:pPr>
            <a:r>
              <a:t>FRENCH IDENTITY WORLDWIDE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66000" y="4833160"/>
            <a:ext cx="5146000" cy="3600"/>
          </a:xfrm>
          <a:prstGeom prst="rect">
            <a:avLst/>
          </a:prstGeom>
          <a:solidFill>
            <a:srgbClr val="66778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6000" y="5033160"/>
            <a:ext cx="2473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000" b="0" i="0">
                <a:solidFill>
                  <a:srgbClr val="FFFFFF"/>
                </a:solidFill>
                <a:latin typeface="Bebas Neue"/>
              </a:defRPr>
            </a:pPr>
            <a:r>
              <a:rPr lang="en-US" dirty="0"/>
              <a:t>1</a:t>
            </a:r>
            <a:r>
              <a:rPr dirty="0"/>
              <a:t>B+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8192" y="5433160"/>
            <a:ext cx="2473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556677"/>
                </a:solidFill>
                <a:latin typeface="DM Sans"/>
              </a:defRPr>
            </a:pPr>
            <a:r>
              <a:rPr lang="en-US" sz="600" spc="300" dirty="0"/>
              <a:t>EATEN PER YEAR IN FRANCE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9000" y="5033160"/>
            <a:ext cx="2473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000" b="0" i="0">
                <a:solidFill>
                  <a:srgbClr val="FFFFFF"/>
                </a:solidFill>
                <a:latin typeface="Bebas Neue"/>
              </a:defRPr>
            </a:pPr>
            <a:r>
              <a:rPr lang="en-US" dirty="0"/>
              <a:t>800+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9339000" y="5433160"/>
            <a:ext cx="2473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556677"/>
                </a:solidFill>
                <a:latin typeface="DM Sans"/>
              </a:defRPr>
            </a:pPr>
            <a:r>
              <a:rPr lang="en-US" sz="600" spc="300" dirty="0"/>
              <a:t>TEARS OF HISTORY</a:t>
            </a:r>
            <a:endParaRPr sz="600" spc="300" dirty="0"/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5377EC7F-BDF5-59D7-278A-83DF2617B4DB}"/>
              </a:ext>
            </a:extLst>
          </p:cNvPr>
          <p:cNvSpPr/>
          <p:nvPr/>
        </p:nvSpPr>
        <p:spPr>
          <a:xfrm rot="5400000" flipV="1">
            <a:off x="8961537" y="5293509"/>
            <a:ext cx="475982" cy="3600"/>
          </a:xfrm>
          <a:prstGeom prst="rect">
            <a:avLst/>
          </a:prstGeom>
          <a:solidFill>
            <a:srgbClr val="66778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000" cy="685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156000" y="0"/>
            <a:ext cx="36000" cy="685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30000" y="330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02000" y="330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0000" y="6268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02000" y="6268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0000" y="1500000"/>
            <a:ext cx="9192000" cy="40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28000" b="0" i="0">
                <a:solidFill>
                  <a:srgbClr val="002A58"/>
                </a:solidFill>
                <a:latin typeface="Bebas Neue"/>
              </a:defRPr>
            </a:pPr>
            <a:r>
              <a:rPr dirty="0"/>
              <a:t>MERCI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0" y="1793600"/>
            <a:ext cx="8192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spc="300" dirty="0"/>
              <a:t>CULTURAL PRESENTATION · PARIS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0" y="2254560"/>
            <a:ext cx="8192000" cy="20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70000"/>
              </a:lnSpc>
              <a:defRPr sz="12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THANK</a:t>
            </a:r>
          </a:p>
          <a:p>
            <a:pPr algn="ctr">
              <a:lnSpc>
                <a:spcPct val="70000"/>
              </a:lnSpc>
              <a:defRPr sz="12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000" y="4700000"/>
            <a:ext cx="580000" cy="24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00000" y="4900000"/>
            <a:ext cx="8192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800" b="0" i="0">
                <a:solidFill>
                  <a:srgbClr val="556677"/>
                </a:solidFill>
                <a:latin typeface="DM Sans"/>
              </a:defRPr>
            </a:pPr>
            <a:r>
              <a:rPr spc="600" dirty="0"/>
              <a:t>HERITAGE · ART · GASTRONOMY · FASHION ·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12000"/>
            <a:ext cx="4064000" cy="46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64000" y="6812000"/>
            <a:ext cx="4064000" cy="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276</Words>
  <Application>Microsoft Office PowerPoint</Application>
  <PresentationFormat>와이드스크린</PresentationFormat>
  <Paragraphs>112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dohyung kim</cp:lastModifiedBy>
  <cp:revision>4</cp:revision>
  <dcterms:created xsi:type="dcterms:W3CDTF">2013-01-27T09:14:16Z</dcterms:created>
  <dcterms:modified xsi:type="dcterms:W3CDTF">2026-05-25T12:09:04Z</dcterms:modified>
  <cp:category/>
</cp:coreProperties>
</file>