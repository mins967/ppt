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0000" y="2000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0" i="0">
                <a:solidFill>
                  <a:srgbClr val="667788"/>
                </a:solidFill>
                <a:latin typeface="DM Sans"/>
              </a:rPr>
              <a:t>CULTURAL PRESENTATION ·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840" y="180000"/>
            <a:ext cx="1200000" cy="23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59840" y="195000"/>
            <a:ext cx="116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DM Sans"/>
              </a:rPr>
              <a:t>FRANCE · EUROPE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000" y="1800000"/>
            <a:ext cx="5839840" cy="28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0" b="1" i="0">
                <a:solidFill>
                  <a:srgbClr val="FFFFFF"/>
                </a:solidFill>
                <a:latin typeface="Bebas Neue"/>
              </a:rPr>
              <a:t>PARIS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00" y="4300000"/>
            <a:ext cx="583984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667788"/>
                </a:solidFill>
                <a:latin typeface="DM Sans"/>
              </a:rPr>
              <a:t>HERITAGE · ART · GASTRONOMY · FASHION ·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370000"/>
            <a:ext cx="6339840" cy="1"/>
          </a:xfrm>
          <a:prstGeom prst="rect">
            <a:avLst/>
          </a:prstGeom>
          <a:solidFill>
            <a:srgbClr val="11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0000" y="5400000"/>
            <a:ext cx="1913280" cy="3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600" b="0" i="0">
                <a:solidFill>
                  <a:srgbClr val="FFFFFF"/>
                </a:solidFill>
                <a:latin typeface="Bebas Neue"/>
              </a:rPr>
              <a:t>2,000+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000" y="5750000"/>
            <a:ext cx="191328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0" i="0">
                <a:solidFill>
                  <a:srgbClr val="556677"/>
                </a:solidFill>
                <a:latin typeface="DM Sans"/>
              </a:rPr>
              <a:t>YEARS OF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3280" y="5400000"/>
            <a:ext cx="1913280" cy="3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600" b="0" i="0">
                <a:solidFill>
                  <a:srgbClr val="FFFFFF"/>
                </a:solidFill>
                <a:latin typeface="Bebas Neue"/>
              </a:rPr>
              <a:t>2.1M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3280" y="5750000"/>
            <a:ext cx="191328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0" i="0">
                <a:solidFill>
                  <a:srgbClr val="556677"/>
                </a:solidFill>
                <a:latin typeface="DM Sans"/>
              </a:rPr>
              <a:t>CITY POPULATION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560" y="5400000"/>
            <a:ext cx="1913280" cy="32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600" b="0" i="0">
                <a:solidFill>
                  <a:srgbClr val="FFFFFF"/>
                </a:solidFill>
                <a:latin typeface="Bebas Neue"/>
              </a:rP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560" y="5750000"/>
            <a:ext cx="191328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0" i="0">
                <a:solidFill>
                  <a:srgbClr val="556677"/>
                </a:solidFill>
                <a:latin typeface="DM Sans"/>
              </a:rPr>
              <a:t>MOST VISITED 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000"/>
            <a:ext cx="2113280" cy="46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13280" y="6812000"/>
            <a:ext cx="2113280" cy="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26560" y="6812000"/>
            <a:ext cx="2113280" cy="4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0"/>
            <a:ext cx="5852160" cy="4457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9840" y="4107700"/>
            <a:ext cx="2000000" cy="2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600" b="0" i="0">
                <a:solidFill>
                  <a:srgbClr val="FFFFFF"/>
                </a:solidFill>
                <a:latin typeface="Bebas Neue"/>
              </a:rPr>
              <a:t>TOUR EIFFEL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9840" y="41477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700" b="0" i="0">
                <a:solidFill>
                  <a:srgbClr val="99AABB"/>
                </a:solidFill>
                <a:latin typeface="DM Sans"/>
              </a:rPr>
              <a:t>CHAMP DE MARS · PARIS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4457700"/>
            <a:ext cx="2926080" cy="24003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920" y="4457700"/>
            <a:ext cx="2926080" cy="2400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79840" y="6578000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0" i="0">
                <a:solidFill>
                  <a:srgbClr val="AAAAAA"/>
                </a:solidFill>
                <a:latin typeface="DM Sans"/>
              </a:rPr>
              <a:t>SEINE · ÎLE DE LA CITÉ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5920" y="6578000"/>
            <a:ext cx="20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0" i="0">
                <a:solidFill>
                  <a:srgbClr val="AAAAAA"/>
                </a:solidFill>
                <a:latin typeface="DM Sans"/>
              </a:rPr>
              <a:t>PARISIAN CUISINE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2000"/>
            <a:ext cx="12192000" cy="3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19840" y="200000"/>
            <a:ext cx="1600000" cy="200000"/>
          </a:xfrm>
          <a:prstGeom prst="rect">
            <a:avLst/>
          </a:prstGeom>
          <a:solidFill>
            <a:srgbClr val="00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19840" y="200000"/>
            <a:ext cx="20000" cy="20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9840" y="210000"/>
            <a:ext cx="1500000" cy="1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0" i="0">
                <a:solidFill>
                  <a:srgbClr val="FFFFFF"/>
                </a:solidFill>
                <a:latin typeface="DM Sans"/>
              </a:rPr>
              <a:t>CITY OF LIGHT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19840" y="450000"/>
            <a:ext cx="1600000" cy="200000"/>
          </a:xfrm>
          <a:prstGeom prst="rect">
            <a:avLst/>
          </a:prstGeom>
          <a:solidFill>
            <a:srgbClr val="00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19840" y="450000"/>
            <a:ext cx="20000" cy="20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9840" y="460000"/>
            <a:ext cx="1500000" cy="1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0" i="0">
                <a:solidFill>
                  <a:srgbClr val="FFFFFF"/>
                </a:solidFill>
                <a:latin typeface="DM Sans"/>
              </a:rPr>
              <a:t>CAPITAL OF FRANCE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19840" y="700000"/>
            <a:ext cx="1600000" cy="200000"/>
          </a:xfrm>
          <a:prstGeom prst="rect">
            <a:avLst/>
          </a:prstGeom>
          <a:solidFill>
            <a:srgbClr val="00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19840" y="700000"/>
            <a:ext cx="20000" cy="20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9840" y="710000"/>
            <a:ext cx="1500000" cy="1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0" i="0">
                <a:solidFill>
                  <a:srgbClr val="FFFFFF"/>
                </a:solidFill>
                <a:latin typeface="DM Sans"/>
              </a:rPr>
              <a:t>48°51′N · 2°21′E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05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0000" y="6358000"/>
            <a:ext cx="1400000" cy="260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0000" y="6383000"/>
            <a:ext cx="1300000" cy="21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1" i="0">
                <a:solidFill>
                  <a:srgbClr val="FFFFFF"/>
                </a:solidFill>
                <a:latin typeface="DM Sans"/>
              </a:rPr>
              <a:t>ÎLE-DE-FRANCE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92000" y="-100000"/>
            <a:ext cx="2000000" cy="1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2000" b="0" i="0">
                <a:solidFill>
                  <a:srgbClr val="002E5C"/>
                </a:solidFill>
                <a:latin typeface="Bebas Neue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5600" y="2200000"/>
            <a:ext cx="45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1" i="0">
                <a:solidFill>
                  <a:srgbClr val="CE1126"/>
                </a:solidFill>
                <a:latin typeface="DM Sans"/>
              </a:rPr>
              <a:t>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5600" y="2500000"/>
            <a:ext cx="4586400" cy="1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5400" b="0" i="0">
                <a:solidFill>
                  <a:srgbClr val="FFFFFF"/>
                </a:solidFill>
                <a:latin typeface="Bebas Neue"/>
              </a:rPr>
              <a:t>WHERE</a:t>
            </a:r>
          </a:p>
          <a:p>
            <a:pPr algn="l"/>
            <a:r>
              <a:rPr sz="5400" b="0" i="0">
                <a:solidFill>
                  <a:srgbClr val="FFFFFF"/>
                </a:solidFill>
                <a:latin typeface="Bebas Neue"/>
              </a:rPr>
              <a:t>IS IT?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5600" y="3600000"/>
            <a:ext cx="440000" cy="1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75600" y="3850000"/>
            <a:ext cx="36000" cy="3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75600" y="3800000"/>
            <a:ext cx="43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8899AA"/>
                </a:solidFill>
                <a:latin typeface="DM Sans"/>
              </a:rPr>
              <a:t>NORTH-CENTRAL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5600" y="4080000"/>
            <a:ext cx="36000" cy="3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75600" y="4030000"/>
            <a:ext cx="43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8899AA"/>
                </a:solidFill>
                <a:latin typeface="DM Sans"/>
              </a:rPr>
              <a:t>SEINE RIVER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5600" y="4310000"/>
            <a:ext cx="36000" cy="3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75600" y="4260000"/>
            <a:ext cx="43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8899AA"/>
                </a:solidFill>
                <a:latin typeface="DM Sans"/>
              </a:rPr>
              <a:t>48°N · 2°E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5600" y="4540000"/>
            <a:ext cx="36000" cy="3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75600" y="4490000"/>
            <a:ext cx="43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8899AA"/>
                </a:solidFill>
                <a:latin typeface="DM Sans"/>
              </a:rPr>
              <a:t>CAPITAL 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5600" y="4770000"/>
            <a:ext cx="36000" cy="3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75600" y="4720000"/>
            <a:ext cx="43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8899AA"/>
                </a:solidFill>
                <a:latin typeface="DM Sans"/>
              </a:rPr>
              <a:t>WESTERN EUROPE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0000" y="330000"/>
            <a:ext cx="1100000" cy="24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0000" y="345000"/>
            <a:ext cx="1020000" cy="21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DM Sans"/>
              </a:rPr>
              <a:t>WHY PARIS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0"/>
            <a:ext cx="7071360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90640" y="430000"/>
            <a:ext cx="617136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1" i="0">
                <a:solidFill>
                  <a:srgbClr val="CE1126"/>
                </a:solidFill>
                <a:latin typeface="DM Sans"/>
              </a:rPr>
              <a:t>WHY I LOVE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90640" y="700000"/>
            <a:ext cx="6371360" cy="16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5200" b="0" i="0">
                <a:solidFill>
                  <a:srgbClr val="FFFFFF"/>
                </a:solidFill>
                <a:latin typeface="Bebas Neue"/>
              </a:rPr>
              <a:t>REASONS</a:t>
            </a:r>
          </a:p>
          <a:p>
            <a:pPr algn="l"/>
            <a:r>
              <a:rPr sz="5200" b="0" i="0">
                <a:solidFill>
                  <a:srgbClr val="FFFFFF"/>
                </a:solidFill>
                <a:latin typeface="Bebas Neue"/>
              </a:rPr>
              <a:t>TO LOVE</a:t>
            </a:r>
          </a:p>
          <a:p>
            <a:pPr algn="l"/>
            <a:r>
              <a:rPr sz="5200" b="0" i="0">
                <a:solidFill>
                  <a:srgbClr val="FFFFFF"/>
                </a:solidFill>
                <a:latin typeface="Bebas Neue"/>
              </a:rPr>
              <a:t>PARIS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590640" y="2450000"/>
            <a:ext cx="440000" cy="1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90640" y="2700000"/>
            <a:ext cx="400000" cy="3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800" b="0" i="0">
                <a:solidFill>
                  <a:srgbClr val="CE1126"/>
                </a:solidFill>
                <a:latin typeface="Bebas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0640" y="2700000"/>
            <a:ext cx="567136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Bebas Neue"/>
              </a:rPr>
              <a:t>ART &amp;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0640" y="3020000"/>
            <a:ext cx="567136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667788"/>
                </a:solidFill>
                <a:latin typeface="DM Sans"/>
              </a:rPr>
              <a:t>Louvre · Notre-Dame · Haussmann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90640" y="3450000"/>
            <a:ext cx="6121360" cy="8000"/>
          </a:xfrm>
          <a:prstGeom prst="rect">
            <a:avLst/>
          </a:prstGeom>
          <a:solidFill>
            <a:srgbClr val="0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90640" y="3800000"/>
            <a:ext cx="400000" cy="3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800" b="0" i="0">
                <a:solidFill>
                  <a:srgbClr val="CE1126"/>
                </a:solidFill>
                <a:latin typeface="Bebas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0640" y="3800000"/>
            <a:ext cx="567136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Bebas Neue"/>
              </a:rPr>
              <a:t>GASTRONOMY &amp; CAFÉ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0640" y="4120000"/>
            <a:ext cx="567136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667788"/>
                </a:solidFill>
                <a:latin typeface="DM Sans"/>
              </a:rPr>
              <a:t>Bistros · Patisseries · Michelin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0640" y="4550000"/>
            <a:ext cx="6121360" cy="8000"/>
          </a:xfrm>
          <a:prstGeom prst="rect">
            <a:avLst/>
          </a:prstGeom>
          <a:solidFill>
            <a:srgbClr val="0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90640" y="4900000"/>
            <a:ext cx="400000" cy="3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800" b="0" i="0">
                <a:solidFill>
                  <a:srgbClr val="CE1126"/>
                </a:solidFill>
                <a:latin typeface="Bebas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0640" y="4900000"/>
            <a:ext cx="567136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Bebas Neue"/>
              </a:rPr>
              <a:t>FASHION &amp; STYLE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0640" y="5220000"/>
            <a:ext cx="567136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667788"/>
                </a:solidFill>
                <a:latin typeface="DM Sans"/>
              </a:rPr>
              <a:t>Haute Couture · Chanel · Savoir-Faire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000" y="4658000"/>
            <a:ext cx="25000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20000" b="0" i="0">
                <a:solidFill>
                  <a:srgbClr val="002A58"/>
                </a:solidFill>
                <a:latin typeface="Bebas Neue"/>
              </a:rPr>
              <a:t>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50000" y="5158000"/>
            <a:ext cx="5000000" cy="17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5000" b="0" i="0">
                <a:solidFill>
                  <a:srgbClr val="002E5C"/>
                </a:solidFill>
                <a:latin typeface="Bebas Neue"/>
              </a:rPr>
              <a:t>1889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0000" y="1800000"/>
            <a:ext cx="52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1" i="0">
                <a:solidFill>
                  <a:srgbClr val="CE1126"/>
                </a:solidFill>
                <a:latin typeface="DM Sans"/>
              </a:rPr>
              <a:t>HISTORICAL FUN 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000" y="2150000"/>
            <a:ext cx="5296000" cy="18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4400" b="0" i="1">
                <a:solidFill>
                  <a:srgbClr val="FFFFFF"/>
                </a:solidFill>
                <a:latin typeface="Playfair Display"/>
              </a:rPr>
              <a:t>Built to</a:t>
            </a:r>
          </a:p>
          <a:p>
            <a:pPr algn="l"/>
            <a:r>
              <a:rPr sz="4400" b="0" i="1">
                <a:solidFill>
                  <a:srgbClr val="FFFFFF"/>
                </a:solidFill>
                <a:latin typeface="Playfair Display"/>
              </a:rPr>
              <a:t>be torn</a:t>
            </a:r>
          </a:p>
          <a:p>
            <a:pPr algn="l"/>
            <a:r>
              <a:rPr sz="4400" b="0" i="1">
                <a:solidFill>
                  <a:srgbClr val="FFFFFF"/>
                </a:solidFill>
                <a:latin typeface="Playfair Display"/>
              </a:rPr>
              <a:t>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0000" y="4200000"/>
            <a:ext cx="1084000" cy="24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000" y="4220000"/>
            <a:ext cx="1044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800" b="0" i="0">
                <a:solidFill>
                  <a:srgbClr val="FFFFFF"/>
                </a:solidFill>
                <a:latin typeface="DM Sans"/>
              </a:rPr>
              <a:t>EIFFEL TOWER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664000" y="4200000"/>
            <a:ext cx="508000" cy="240000"/>
          </a:xfrm>
          <a:prstGeom prst="rect">
            <a:avLst/>
          </a:prstGeom>
          <a:noFill/>
          <a:ln w="9525">
            <a:solidFill>
              <a:srgbClr val="44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84000" y="4220000"/>
            <a:ext cx="46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800" b="0" i="0">
                <a:solidFill>
                  <a:srgbClr val="AABBCC"/>
                </a:solidFill>
                <a:latin typeface="DM Sans"/>
              </a:rPr>
              <a:t>1889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2000" y="4200000"/>
            <a:ext cx="868000" cy="240000"/>
          </a:xfrm>
          <a:prstGeom prst="rect">
            <a:avLst/>
          </a:prstGeom>
          <a:noFill/>
          <a:ln w="9525">
            <a:solidFill>
              <a:srgbClr val="44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62000" y="4220000"/>
            <a:ext cx="82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800" b="0" i="0">
                <a:solidFill>
                  <a:srgbClr val="AABBCC"/>
                </a:solidFill>
                <a:latin typeface="DM Sans"/>
              </a:rPr>
              <a:t>TEMPORARY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0000" y="4200000"/>
            <a:ext cx="940000" cy="240000"/>
          </a:xfrm>
          <a:prstGeom prst="rect">
            <a:avLst/>
          </a:prstGeom>
          <a:noFill/>
          <a:ln w="9525">
            <a:solidFill>
              <a:srgbClr val="44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000" y="4220000"/>
            <a:ext cx="9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800" b="0" i="0">
                <a:solidFill>
                  <a:srgbClr val="AABBCC"/>
                </a:solidFill>
                <a:latin typeface="DM Sans"/>
              </a:rPr>
              <a:t>IRON GIANT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0000" y="4200000"/>
            <a:ext cx="868000" cy="240000"/>
          </a:xfrm>
          <a:prstGeom prst="rect">
            <a:avLst/>
          </a:prstGeom>
          <a:noFill/>
          <a:ln w="9525">
            <a:solidFill>
              <a:srgbClr val="44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10000" y="4220000"/>
            <a:ext cx="82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800" b="0" i="0">
                <a:solidFill>
                  <a:srgbClr val="AABBCC"/>
                </a:solidFill>
                <a:latin typeface="DM Sans"/>
              </a:rPr>
              <a:t>300M TALL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096000" y="0"/>
            <a:ext cx="3048000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492000" y="5558000"/>
            <a:ext cx="1300000" cy="900000"/>
          </a:xfrm>
          <a:prstGeom prst="rect">
            <a:avLst/>
          </a:prstGeom>
          <a:noFill/>
          <a:ln w="1905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92000" y="5658000"/>
            <a:ext cx="1100000" cy="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4000" b="0" i="0">
                <a:solidFill>
                  <a:srgbClr val="FFFFFF"/>
                </a:solidFill>
                <a:latin typeface="Bebas Neue"/>
              </a:rPr>
              <a:t>1889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2000" y="6138000"/>
            <a:ext cx="11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700" b="0" i="0">
                <a:solidFill>
                  <a:srgbClr val="8899AA"/>
                </a:solidFill>
                <a:latin typeface="DM Sans"/>
              </a:rPr>
              <a:t>WORLD'S FAIR · PARIS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11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0000" y="330000"/>
            <a:ext cx="1600000" cy="26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0000" y="345000"/>
            <a:ext cx="1520000" cy="23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DM Sans"/>
              </a:rPr>
              <a:t>MODERN FUN 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12192000" cy="8000"/>
          </a:xfrm>
          <a:prstGeom prst="rect">
            <a:avLst/>
          </a:prstGeom>
          <a:solidFill>
            <a:srgbClr val="DDDC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0000" y="44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000" b="0" i="0">
                <a:solidFill>
                  <a:srgbClr val="002654"/>
                </a:solidFill>
                <a:latin typeface="Bebas Neue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00" y="4784800"/>
            <a:ext cx="264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CE1126"/>
                </a:solidFill>
                <a:latin typeface="DM Sans"/>
              </a:rPr>
              <a:t>TOURISM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00" y="50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778899"/>
                </a:solidFill>
                <a:latin typeface="DM Sans"/>
              </a:rPr>
              <a:t>Most Visited</a:t>
            </a:r>
          </a:p>
          <a:p>
            <a:pPr algn="l"/>
            <a:r>
              <a:rPr sz="800" b="0" i="0">
                <a:solidFill>
                  <a:srgbClr val="778899"/>
                </a:solidFill>
                <a:latin typeface="DM Sans"/>
              </a:rPr>
              <a:t>City · World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4000" y="4114800"/>
            <a:ext cx="8000" cy="2743200"/>
          </a:xfrm>
          <a:prstGeom prst="rect">
            <a:avLst/>
          </a:prstGeom>
          <a:solidFill>
            <a:srgbClr val="E8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8000" y="44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000" b="0" i="0">
                <a:solidFill>
                  <a:srgbClr val="002654"/>
                </a:solidFill>
                <a:latin typeface="Bebas Neue"/>
              </a:rPr>
              <a:t>100M+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8000" y="4784800"/>
            <a:ext cx="264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CE1126"/>
                </a:solidFill>
                <a:latin typeface="DM Sans"/>
              </a:rPr>
              <a:t>VISITORS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8000" y="50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778899"/>
                </a:solidFill>
                <a:latin typeface="DM Sans"/>
              </a:rPr>
              <a:t>Pre-Pandemic</a:t>
            </a:r>
          </a:p>
          <a:p>
            <a:pPr algn="l"/>
            <a:r>
              <a:rPr sz="800" b="0" i="0">
                <a:solidFill>
                  <a:srgbClr val="778899"/>
                </a:solidFill>
                <a:latin typeface="DM Sans"/>
              </a:rPr>
              <a:t>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2000" y="4114800"/>
            <a:ext cx="8000" cy="2743200"/>
          </a:xfrm>
          <a:prstGeom prst="rect">
            <a:avLst/>
          </a:prstGeom>
          <a:solidFill>
            <a:srgbClr val="E8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6000" y="44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000" b="0" i="0">
                <a:solidFill>
                  <a:srgbClr val="002654"/>
                </a:solidFill>
                <a:latin typeface="Bebas Neue"/>
              </a:rPr>
              <a:t>4,500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000" y="4784800"/>
            <a:ext cx="264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CE1126"/>
                </a:solidFill>
                <a:latin typeface="DM Sans"/>
              </a:rPr>
              <a:t>RESTAURANTS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6000" y="50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778899"/>
                </a:solidFill>
                <a:latin typeface="DM Sans"/>
              </a:rPr>
              <a:t>Michelin Star</a:t>
            </a:r>
          </a:p>
          <a:p>
            <a:pPr algn="l"/>
            <a:r>
              <a:rPr sz="800" b="0" i="0">
                <a:solidFill>
                  <a:srgbClr val="778899"/>
                </a:solidFill>
                <a:latin typeface="DM Sans"/>
              </a:rPr>
              <a:t>Capital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0000" y="4114800"/>
            <a:ext cx="8000" cy="2743200"/>
          </a:xfrm>
          <a:prstGeom prst="rect">
            <a:avLst/>
          </a:prstGeom>
          <a:solidFill>
            <a:srgbClr val="E8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74000" y="44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000" b="0" i="0">
                <a:solidFill>
                  <a:srgbClr val="002654"/>
                </a:solidFill>
                <a:latin typeface="Bebas Neue"/>
              </a:rPr>
              <a:t>132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4000" y="4784800"/>
            <a:ext cx="2648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CE1126"/>
                </a:solidFill>
                <a:latin typeface="DM Sans"/>
              </a:rPr>
              <a:t>MUSEUMS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4000" y="5004800"/>
            <a:ext cx="2648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778899"/>
                </a:solidFill>
                <a:latin typeface="DM Sans"/>
              </a:rPr>
              <a:t>City of</a:t>
            </a:r>
          </a:p>
          <a:p>
            <a:pPr algn="l"/>
            <a:r>
              <a:rPr sz="800" b="0" i="0">
                <a:solidFill>
                  <a:srgbClr val="778899"/>
                </a:solidFill>
                <a:latin typeface="DM Sans"/>
              </a:rPr>
              <a:t>Light · 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86400" y="4358000"/>
            <a:ext cx="3000000" cy="2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24000" b="0" i="0">
                <a:solidFill>
                  <a:srgbClr val="002A58"/>
                </a:solidFill>
                <a:latin typeface="Bebas Neue"/>
              </a:rP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000" y="1800000"/>
            <a:ext cx="46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1" i="0">
                <a:solidFill>
                  <a:srgbClr val="CE1126"/>
                </a:solidFill>
                <a:latin typeface="DM Sans"/>
              </a:rPr>
              <a:t>CULTURAL TRADITION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000" y="2100000"/>
            <a:ext cx="47864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6000" b="0" i="0">
                <a:solidFill>
                  <a:srgbClr val="FFFFFF"/>
                </a:solidFill>
                <a:latin typeface="Bebas Neue"/>
              </a:rPr>
              <a:t>LA</a:t>
            </a:r>
          </a:p>
          <a:p>
            <a:pPr algn="l"/>
            <a:r>
              <a:rPr sz="6000" b="0" i="0">
                <a:solidFill>
                  <a:srgbClr val="FFFFFF"/>
                </a:solidFill>
                <a:latin typeface="Bebas Neue"/>
              </a:rPr>
              <a:t>FÊTE</a:t>
            </a:r>
          </a:p>
          <a:p>
            <a:pPr algn="l"/>
            <a:r>
              <a:rPr sz="6000" b="0" i="0">
                <a:solidFill>
                  <a:srgbClr val="FFFFFF"/>
                </a:solidFill>
                <a:latin typeface="Bebas Neue"/>
              </a:rPr>
              <a:t>NATIO-</a:t>
            </a:r>
          </a:p>
          <a:p>
            <a:pPr algn="l"/>
            <a:r>
              <a:rPr sz="6000" b="0" i="0">
                <a:solidFill>
                  <a:srgbClr val="FFFFFF"/>
                </a:solidFill>
                <a:latin typeface="Bebas Neue"/>
              </a:rPr>
              <a:t>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000" y="4850000"/>
            <a:ext cx="220000" cy="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000" y="4800000"/>
            <a:ext cx="44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667788"/>
                </a:solidFill>
                <a:latin typeface="DM Sans"/>
              </a:rPr>
              <a:t>BASTILLE DAY · JULY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000" y="5080000"/>
            <a:ext cx="220000" cy="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000" y="5030000"/>
            <a:ext cx="44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667788"/>
                </a:solidFill>
                <a:latin typeface="DM Sans"/>
              </a:rPr>
              <a:t>NATIONAL 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000" y="5310000"/>
            <a:ext cx="220000" cy="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0000" y="5260000"/>
            <a:ext cx="44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667788"/>
                </a:solidFill>
                <a:latin typeface="DM Sans"/>
              </a:rPr>
              <a:t>1789 REVOLUTION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000" y="5540000"/>
            <a:ext cx="220000" cy="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0000" y="5490000"/>
            <a:ext cx="44864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667788"/>
                </a:solidFill>
                <a:latin typeface="DM Sans"/>
              </a:rPr>
              <a:t>FIREWORKS · PARADE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705600" cy="3429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486400" y="3429000"/>
            <a:ext cx="8000" cy="3429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76400" y="3679000"/>
            <a:ext cx="2852800" cy="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4000" b="0" i="0">
                <a:solidFill>
                  <a:srgbClr val="002654"/>
                </a:solidFill>
                <a:latin typeface="Bebas Neue"/>
              </a:rPr>
              <a:t>1789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6400" y="4179000"/>
            <a:ext cx="28528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CE1126"/>
                </a:solidFill>
                <a:latin typeface="DM Sans"/>
              </a:rPr>
              <a:t>FOUNDED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6400" y="4429000"/>
            <a:ext cx="28528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99AABB"/>
                </a:solidFill>
                <a:latin typeface="DM Sans"/>
              </a:rPr>
              <a:t>FRENCH REVOLUTION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39200" y="3429000"/>
            <a:ext cx="0" cy="3429000"/>
          </a:xfrm>
          <a:prstGeom prst="rect">
            <a:avLst/>
          </a:prstGeom>
          <a:solidFill>
            <a:srgbClr val="EE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9200" y="3679000"/>
            <a:ext cx="2852800" cy="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4000" b="0" i="0">
                <a:solidFill>
                  <a:srgbClr val="002654"/>
                </a:solidFill>
                <a:latin typeface="Bebas Neue"/>
              </a:rPr>
              <a:t>233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9200" y="4179000"/>
            <a:ext cx="28528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CE1126"/>
                </a:solidFill>
                <a:latin typeface="DM Sans"/>
              </a:rPr>
              <a:t>YEARS 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9200" y="4429000"/>
            <a:ext cx="28528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0" i="0">
                <a:solidFill>
                  <a:srgbClr val="99AABB"/>
                </a:solidFill>
                <a:latin typeface="DM Sans"/>
              </a:rPr>
              <a:t>LIVING TRADITION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0000" y="330000"/>
            <a:ext cx="1300000" cy="240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0000" y="345000"/>
            <a:ext cx="1220000" cy="21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DM Sans"/>
              </a:rPr>
              <a:t>CUISINE · ORIGINS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000" y="6508000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0" i="0">
                <a:solidFill>
                  <a:srgbClr val="667788"/>
                </a:solidFill>
                <a:latin typeface="DM Sans"/>
              </a:rPr>
              <a:t>ICONIC FRENCH 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92000" y="4858000"/>
            <a:ext cx="2200000" cy="2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sz="16000" b="0" i="0">
                <a:solidFill>
                  <a:srgbClr val="002A58"/>
                </a:solidFill>
                <a:latin typeface="Bebas Neue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6000" y="1200000"/>
            <a:ext cx="52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800" b="1" i="0">
                <a:solidFill>
                  <a:srgbClr val="CE1126"/>
                </a:solidFill>
                <a:latin typeface="DM Sans"/>
              </a:rPr>
              <a:t>FOOD &amp;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6000" y="1500000"/>
            <a:ext cx="5396000" cy="1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200" b="0" i="0">
                <a:solidFill>
                  <a:srgbClr val="FFFFFF"/>
                </a:solidFill>
                <a:latin typeface="Bebas Neue"/>
              </a:rPr>
              <a:t>CRÊPE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66000" y="2900000"/>
            <a:ext cx="440000" cy="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6000" y="3150000"/>
            <a:ext cx="72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1" i="0">
                <a:solidFill>
                  <a:srgbClr val="CE1126"/>
                </a:solidFill>
                <a:latin typeface="DM Sans"/>
              </a:rPr>
              <a:t>ORIGIN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6000" y="3150000"/>
            <a:ext cx="43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CCCCCC"/>
                </a:solidFill>
                <a:latin typeface="DM Sans"/>
              </a:rPr>
              <a:t>BRITTANY, FRANCE · 13TH CENTURY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6000" y="3430000"/>
            <a:ext cx="72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1" i="0">
                <a:solidFill>
                  <a:srgbClr val="CE1126"/>
                </a:solidFill>
                <a:latin typeface="DM Sans"/>
              </a:rPr>
              <a:t>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6000" y="3430000"/>
            <a:ext cx="43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CCCCCC"/>
                </a:solidFill>
                <a:latin typeface="DM Sans"/>
              </a:rPr>
              <a:t>BUCKWHEAT (GALETTE) · WHEAT FLOUR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6000" y="3710000"/>
            <a:ext cx="72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1" i="0">
                <a:solidFill>
                  <a:srgbClr val="CE1126"/>
                </a:solidFill>
                <a:latin typeface="DM Sans"/>
              </a:rPr>
              <a:t>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6000" y="3710000"/>
            <a:ext cx="43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CCCCCC"/>
                </a:solidFill>
                <a:latin typeface="DM Sans"/>
              </a:rPr>
              <a:t>SWEET (DESSERT) · SAVORY (GALETTE)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6000" y="3990000"/>
            <a:ext cx="72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1" i="0">
                <a:solidFill>
                  <a:srgbClr val="CE1126"/>
                </a:solidFill>
                <a:latin typeface="DM Sans"/>
              </a:rPr>
              <a:t>SYMBOL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6000" y="3990000"/>
            <a:ext cx="4396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CCCCCC"/>
                </a:solidFill>
                <a:latin typeface="DM Sans"/>
              </a:rPr>
              <a:t>LA CHANDELEUR · FEB 2ND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6000" y="4500000"/>
            <a:ext cx="5146000" cy="8000"/>
          </a:xfrm>
          <a:prstGeom prst="rect">
            <a:avLst/>
          </a:prstGeom>
          <a:solidFill>
            <a:srgbClr val="11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6000" y="4700000"/>
            <a:ext cx="2473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000" b="0" i="0">
                <a:solidFill>
                  <a:srgbClr val="FFFFFF"/>
                </a:solidFill>
                <a:latin typeface="Bebas Neue"/>
              </a:rPr>
              <a:t>1B+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6000" y="5100000"/>
            <a:ext cx="2473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0" i="0">
                <a:solidFill>
                  <a:srgbClr val="556677"/>
                </a:solidFill>
                <a:latin typeface="DM Sans"/>
              </a:rPr>
              <a:t>EATEN PER YEAR IN FRANCE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9000" y="4700000"/>
            <a:ext cx="2473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3000" b="0" i="0">
                <a:solidFill>
                  <a:srgbClr val="FFFFFF"/>
                </a:solidFill>
                <a:latin typeface="Bebas Neue"/>
              </a:rPr>
              <a:t>800+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9000" y="5100000"/>
            <a:ext cx="2473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700" b="0" i="0">
                <a:solidFill>
                  <a:srgbClr val="556677"/>
                </a:solidFill>
                <a:latin typeface="DM Sans"/>
              </a:rPr>
              <a:t>YEARS OF 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156000" y="0"/>
            <a:ext cx="36000" cy="6858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0000" y="330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02000" y="330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0000" y="6268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02000" y="6268000"/>
            <a:ext cx="260000" cy="260000"/>
          </a:xfrm>
          <a:prstGeom prst="rect">
            <a:avLst/>
          </a:prstGeom>
          <a:noFill/>
          <a:ln w="12700">
            <a:solidFill>
              <a:srgbClr val="22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0000" y="1500000"/>
            <a:ext cx="9192000" cy="4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28000" b="0" i="0">
                <a:solidFill>
                  <a:srgbClr val="002A58"/>
                </a:solidFill>
                <a:latin typeface="Bebas Neue"/>
              </a:rPr>
              <a:t>MERCI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0" y="2200000"/>
            <a:ext cx="8192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800" b="1" i="0">
                <a:solidFill>
                  <a:srgbClr val="CE1126"/>
                </a:solidFill>
                <a:latin typeface="DM Sans"/>
              </a:rPr>
              <a:t>CULTURAL PRESENTATION · PARIS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0" y="2600000"/>
            <a:ext cx="8192000" cy="20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2000" b="0" i="0">
                <a:solidFill>
                  <a:srgbClr val="FFFFFF"/>
                </a:solidFill>
                <a:latin typeface="Bebas Neue"/>
              </a:rPr>
              <a:t>THANK</a:t>
            </a:r>
          </a:p>
          <a:p>
            <a:pPr algn="ctr"/>
            <a:r>
              <a:rPr sz="12000" b="0" i="0">
                <a:solidFill>
                  <a:srgbClr val="FFFFFF"/>
                </a:solidFill>
                <a:latin typeface="Bebas Neue"/>
              </a:rPr>
              <a:t>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000" y="4700000"/>
            <a:ext cx="580000" cy="24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00000" y="4900000"/>
            <a:ext cx="8192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800" b="0" i="0">
                <a:solidFill>
                  <a:srgbClr val="556677"/>
                </a:solidFill>
                <a:latin typeface="DM Sans"/>
              </a:rPr>
              <a:t>HERITAGE · ART · GASTRONOMY · FASHION ·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12000"/>
            <a:ext cx="4064000" cy="46000"/>
          </a:xfrm>
          <a:prstGeom prst="rect">
            <a:avLst/>
          </a:prstGeom>
          <a:solidFill>
            <a:srgbClr val="002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64000" y="6812000"/>
            <a:ext cx="4064000" cy="4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8000" y="6812000"/>
            <a:ext cx="4074000" cy="46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269</Words>
  <Application>Microsoft Office PowerPoint</Application>
  <PresentationFormat>와이드스크린</PresentationFormat>
  <Paragraphs>109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Arial</vt:lpstr>
      <vt:lpstr>Bebas Neue</vt:lpstr>
      <vt:lpstr>Calibri</vt:lpstr>
      <vt:lpstr>DM Sans</vt:lpstr>
      <vt:lpstr>Playfair Display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dohyung kim</cp:lastModifiedBy>
  <cp:revision>1</cp:revision>
  <dcterms:created xsi:type="dcterms:W3CDTF">2013-01-27T09:14:16Z</dcterms:created>
  <dcterms:modified xsi:type="dcterms:W3CDTF">2026-05-25T12:09:46Z</dcterms:modified>
  <cp:category/>
</cp:coreProperties>
</file>